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9" r:id="rId4"/>
    <p:sldId id="260" r:id="rId5"/>
    <p:sldId id="261" r:id="rId6"/>
    <p:sldId id="262" r:id="rId7"/>
    <p:sldId id="263" r:id="rId8"/>
    <p:sldId id="264"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95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6AAB3A"/>
          </a:solidFill>
          <a:ln w="12700">
            <a:solidFill>
              <a:srgbClr val="6AAB3A"/>
            </a:solidFill>
            <a:prstDash val="solid"/>
          </a:ln>
        </p:spPr>
      </p:sp>
      <p:sp>
        <p:nvSpPr>
          <p:cNvPr id="3" name="Shape 1"/>
          <p:cNvSpPr/>
          <p:nvPr/>
        </p:nvSpPr>
        <p:spPr>
          <a:xfrm>
            <a:off x="0" y="5029200"/>
            <a:ext cx="9144000" cy="114300"/>
          </a:xfrm>
          <a:prstGeom prst="rect">
            <a:avLst/>
          </a:prstGeom>
          <a:solidFill>
            <a:srgbClr val="2C5F2D"/>
          </a:solidFill>
          <a:ln w="12700">
            <a:solidFill>
              <a:srgbClr val="2C5F2D"/>
            </a:solidFill>
            <a:prstDash val="solid"/>
          </a:ln>
        </p:spPr>
      </p:sp>
      <p:sp>
        <p:nvSpPr>
          <p:cNvPr id="4" name="Shape 2"/>
          <p:cNvSpPr/>
          <p:nvPr/>
        </p:nvSpPr>
        <p:spPr>
          <a:xfrm>
            <a:off x="0" y="109728"/>
            <a:ext cx="320040" cy="4919472"/>
          </a:xfrm>
          <a:prstGeom prst="rect">
            <a:avLst/>
          </a:prstGeom>
          <a:solidFill>
            <a:srgbClr val="2C5F2D"/>
          </a:solidFill>
          <a:ln w="12700">
            <a:solidFill>
              <a:srgbClr val="2C5F2D"/>
            </a:solidFill>
            <a:prstDash val="solid"/>
          </a:ln>
        </p:spPr>
      </p:sp>
      <p:sp>
        <p:nvSpPr>
          <p:cNvPr id="5" name="Text 3"/>
          <p:cNvSpPr/>
          <p:nvPr/>
        </p:nvSpPr>
        <p:spPr>
          <a:xfrm>
            <a:off x="640080" y="1188720"/>
            <a:ext cx="7772400" cy="1737360"/>
          </a:xfrm>
          <a:prstGeom prst="rect">
            <a:avLst/>
          </a:prstGeom>
          <a:noFill/>
          <a:ln/>
        </p:spPr>
        <p:txBody>
          <a:bodyPr wrap="square"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Coffee Production</a:t>
            </a:r>
            <a:endParaRPr lang="en-US" sz="4000" dirty="0"/>
          </a:p>
          <a:p>
            <a:pPr marL="0" indent="0">
              <a:buNone/>
            </a:pPr>
            <a:r>
              <a:rPr lang="en-US" sz="4000" b="1" dirty="0">
                <a:solidFill>
                  <a:srgbClr val="FFFFFF"/>
                </a:solidFill>
                <a:latin typeface="Trebuchet MS" pitchFamily="34" charset="0"/>
                <a:ea typeface="Trebuchet MS" pitchFamily="34" charset="-122"/>
                <a:cs typeface="Trebuchet MS" pitchFamily="34" charset="-120"/>
              </a:rPr>
              <a:t>Database System</a:t>
            </a:r>
            <a:endParaRPr lang="en-US" sz="4000" dirty="0"/>
          </a:p>
        </p:txBody>
      </p:sp>
      <p:sp>
        <p:nvSpPr>
          <p:cNvPr id="6" name="Text 4"/>
          <p:cNvSpPr/>
          <p:nvPr/>
        </p:nvSpPr>
        <p:spPr>
          <a:xfrm>
            <a:off x="640080" y="2880360"/>
            <a:ext cx="7772400" cy="457200"/>
          </a:xfrm>
          <a:prstGeom prst="rect">
            <a:avLst/>
          </a:prstGeom>
          <a:noFill/>
          <a:ln/>
        </p:spPr>
        <p:txBody>
          <a:bodyPr wrap="square" rtlCol="0" anchor="ctr"/>
          <a:lstStyle/>
          <a:p>
            <a:pPr marL="0" indent="0">
              <a:buNone/>
            </a:pPr>
            <a:r>
              <a:rPr lang="en-US" sz="1400" i="1" dirty="0">
                <a:solidFill>
                  <a:srgbClr val="8FAF72"/>
                </a:solidFill>
                <a:latin typeface="Calibri" pitchFamily="34" charset="0"/>
                <a:ea typeface="Calibri" pitchFamily="34" charset="-122"/>
                <a:cs typeface="Calibri" pitchFamily="34" charset="-120"/>
              </a:rPr>
              <a:t>Digitizing Agricultural Data for the Ministry of Agriculture</a:t>
            </a:r>
            <a:endParaRPr lang="en-US" sz="1400" dirty="0"/>
          </a:p>
        </p:txBody>
      </p:sp>
      <p:sp>
        <p:nvSpPr>
          <p:cNvPr id="7" name="Text 5"/>
          <p:cNvSpPr/>
          <p:nvPr/>
        </p:nvSpPr>
        <p:spPr>
          <a:xfrm>
            <a:off x="640080" y="3429000"/>
            <a:ext cx="7772400" cy="365760"/>
          </a:xfrm>
          <a:prstGeom prst="rect">
            <a:avLst/>
          </a:prstGeom>
          <a:noFill/>
          <a:ln/>
        </p:spPr>
        <p:txBody>
          <a:bodyPr wrap="square" rtlCol="0" anchor="ctr"/>
          <a:lstStyle/>
          <a:p>
            <a:pPr marL="0" indent="0">
              <a:buNone/>
            </a:pPr>
            <a:r>
              <a:rPr lang="en-US" sz="1200" dirty="0">
                <a:solidFill>
                  <a:srgbClr val="8FAF72"/>
                </a:solidFill>
                <a:latin typeface="Calibri" pitchFamily="34" charset="0"/>
                <a:ea typeface="Calibri" pitchFamily="34" charset="-122"/>
                <a:cs typeface="Calibri" pitchFamily="34" charset="-120"/>
              </a:rPr>
              <a:t>Group 5  ·  Final Project  ·  Database Systems</a:t>
            </a:r>
            <a:endParaRPr lang="en-US" sz="1200" dirty="0"/>
          </a:p>
        </p:txBody>
      </p:sp>
      <p:sp>
        <p:nvSpPr>
          <p:cNvPr id="8" name="Text 6"/>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8FAF72"/>
                </a:solidFill>
                <a:latin typeface="Calibri" pitchFamily="34" charset="0"/>
                <a:ea typeface="Calibri" pitchFamily="34" charset="-122"/>
                <a:cs typeface="Calibri" pitchFamily="34" charset="-120"/>
              </a:rPr>
              <a:t>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4F7F0"/>
        </a:solidFill>
        <a:effectLst/>
      </p:bgPr>
    </p:bg>
    <p:spTree>
      <p:nvGrpSpPr>
        <p:cNvPr id="1" name=""/>
        <p:cNvGrpSpPr/>
        <p:nvPr/>
      </p:nvGrpSpPr>
      <p:grpSpPr>
        <a:xfrm>
          <a:off x="0" y="0"/>
          <a:ext cx="0" cy="0"/>
          <a:chOff x="0" y="0"/>
          <a:chExt cx="0" cy="0"/>
        </a:xfrm>
      </p:grpSpPr>
      <p:sp>
        <p:nvSpPr>
          <p:cNvPr id="2" name="Shape 0"/>
          <p:cNvSpPr/>
          <p:nvPr/>
        </p:nvSpPr>
        <p:spPr>
          <a:xfrm>
            <a:off x="457200" y="502920"/>
            <a:ext cx="64008" cy="594360"/>
          </a:xfrm>
          <a:prstGeom prst="rect">
            <a:avLst/>
          </a:prstGeom>
          <a:solidFill>
            <a:srgbClr val="6AAB3A"/>
          </a:solidFill>
          <a:ln w="12700">
            <a:solidFill>
              <a:srgbClr val="6AAB3A"/>
            </a:solidFill>
            <a:prstDash val="solid"/>
          </a:ln>
        </p:spPr>
      </p:sp>
      <p:sp>
        <p:nvSpPr>
          <p:cNvPr id="3" name="Text 1"/>
          <p:cNvSpPr/>
          <p:nvPr/>
        </p:nvSpPr>
        <p:spPr>
          <a:xfrm>
            <a:off x="612648" y="457200"/>
            <a:ext cx="8046720" cy="685800"/>
          </a:xfrm>
          <a:prstGeom prst="rect">
            <a:avLst/>
          </a:prstGeom>
          <a:noFill/>
          <a:ln/>
        </p:spPr>
        <p:txBody>
          <a:bodyPr wrap="square" lIns="0" tIns="0" rIns="0" bIns="0" rtlCol="0" anchor="ctr"/>
          <a:lstStyle/>
          <a:p>
            <a:pPr marL="0" indent="0">
              <a:buNone/>
            </a:pPr>
            <a:r>
              <a:rPr lang="en-US" sz="2800" b="1" dirty="0">
                <a:solidFill>
                  <a:srgbClr val="1A2E1A"/>
                </a:solidFill>
                <a:latin typeface="Trebuchet MS" pitchFamily="34" charset="0"/>
                <a:ea typeface="Trebuchet MS" pitchFamily="34" charset="-122"/>
                <a:cs typeface="Trebuchet MS" pitchFamily="34" charset="-120"/>
              </a:rPr>
              <a:t>1. Introduction</a:t>
            </a:r>
            <a:endParaRPr lang="en-US" sz="2800" dirty="0"/>
          </a:p>
        </p:txBody>
      </p:sp>
      <p:sp>
        <p:nvSpPr>
          <p:cNvPr id="4" name="Shape 2"/>
          <p:cNvSpPr/>
          <p:nvPr/>
        </p:nvSpPr>
        <p:spPr>
          <a:xfrm>
            <a:off x="457200" y="1170432"/>
            <a:ext cx="8229600" cy="0"/>
          </a:xfrm>
          <a:prstGeom prst="line">
            <a:avLst/>
          </a:prstGeom>
          <a:noFill/>
          <a:ln w="15240">
            <a:solidFill>
              <a:srgbClr val="6AAB3A"/>
            </a:solidFill>
            <a:prstDash val="solid"/>
          </a:ln>
        </p:spPr>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4A6741"/>
                </a:solidFill>
                <a:latin typeface="Calibri" pitchFamily="34" charset="0"/>
                <a:ea typeface="Calibri" pitchFamily="34" charset="-122"/>
                <a:cs typeface="Calibri" pitchFamily="34" charset="-120"/>
              </a:rPr>
              <a:t>3 / 10</a:t>
            </a:r>
            <a:endParaRPr lang="en-US" sz="900" dirty="0"/>
          </a:p>
        </p:txBody>
      </p:sp>
      <p:sp>
        <p:nvSpPr>
          <p:cNvPr id="6" name="Shape 4"/>
          <p:cNvSpPr/>
          <p:nvPr/>
        </p:nvSpPr>
        <p:spPr>
          <a:xfrm>
            <a:off x="457200" y="1325880"/>
            <a:ext cx="2606040" cy="3383280"/>
          </a:xfrm>
          <a:prstGeom prst="rect">
            <a:avLst/>
          </a:prstGeom>
          <a:solidFill>
            <a:srgbClr val="FFFFFF"/>
          </a:solidFill>
          <a:ln w="12700">
            <a:solidFill>
              <a:srgbClr val="D8E8C8"/>
            </a:solidFill>
            <a:prstDash val="solid"/>
          </a:ln>
          <a:effectLst>
            <a:outerShdw blurRad="76200" dist="25400" dir="8100000" algn="bl" rotWithShape="0">
              <a:srgbClr val="000000">
                <a:alpha val="8000"/>
              </a:srgbClr>
            </a:outerShdw>
          </a:effectLst>
        </p:spPr>
        <p:txBody>
          <a:bodyPr/>
          <a:lstStyle/>
          <a:p>
            <a:endParaRPr lang="en-US"/>
          </a:p>
        </p:txBody>
      </p:sp>
      <p:sp>
        <p:nvSpPr>
          <p:cNvPr id="7" name="Shape 5"/>
          <p:cNvSpPr/>
          <p:nvPr/>
        </p:nvSpPr>
        <p:spPr>
          <a:xfrm>
            <a:off x="457200" y="1325880"/>
            <a:ext cx="2606040" cy="91440"/>
          </a:xfrm>
          <a:prstGeom prst="rect">
            <a:avLst/>
          </a:prstGeom>
          <a:solidFill>
            <a:srgbClr val="6AAB3A"/>
          </a:solidFill>
          <a:ln w="12700">
            <a:solidFill>
              <a:srgbClr val="6AAB3A"/>
            </a:solidFill>
            <a:prstDash val="solid"/>
          </a:ln>
        </p:spPr>
      </p:sp>
      <p:sp>
        <p:nvSpPr>
          <p:cNvPr id="8" name="Text 6"/>
          <p:cNvSpPr/>
          <p:nvPr/>
        </p:nvSpPr>
        <p:spPr>
          <a:xfrm>
            <a:off x="594360" y="1481328"/>
            <a:ext cx="2331720" cy="365760"/>
          </a:xfrm>
          <a:prstGeom prst="rect">
            <a:avLst/>
          </a:prstGeom>
          <a:noFill/>
          <a:ln/>
        </p:spPr>
        <p:txBody>
          <a:bodyPr wrap="square" lIns="0" tIns="0" rIns="0" bIns="0" rtlCol="0" anchor="ctr"/>
          <a:lstStyle/>
          <a:p>
            <a:pPr marL="0" indent="0">
              <a:buNone/>
            </a:pPr>
            <a:r>
              <a:rPr lang="en-US" sz="1400" b="1" dirty="0">
                <a:solidFill>
                  <a:srgbClr val="2C5F2D"/>
                </a:solidFill>
                <a:latin typeface="Trebuchet MS" pitchFamily="34" charset="0"/>
                <a:ea typeface="Trebuchet MS" pitchFamily="34" charset="-122"/>
                <a:cs typeface="Trebuchet MS" pitchFamily="34" charset="-120"/>
              </a:rPr>
              <a:t>Problem</a:t>
            </a:r>
            <a:endParaRPr lang="en-US" sz="1400" dirty="0"/>
          </a:p>
        </p:txBody>
      </p:sp>
      <p:sp>
        <p:nvSpPr>
          <p:cNvPr id="9" name="Text 7"/>
          <p:cNvSpPr/>
          <p:nvPr/>
        </p:nvSpPr>
        <p:spPr>
          <a:xfrm>
            <a:off x="594360" y="1920240"/>
            <a:ext cx="2331720" cy="2560320"/>
          </a:xfrm>
          <a:prstGeom prst="rect">
            <a:avLst/>
          </a:prstGeom>
          <a:noFill/>
          <a:ln/>
        </p:spPr>
        <p:txBody>
          <a:bodyPr wrap="square" rtlCol="0" anchor="t"/>
          <a:lstStyle/>
          <a:p>
            <a:r>
              <a:rPr lang="en-US" sz="1200" dirty="0" smtClean="0"/>
              <a:t>The </a:t>
            </a:r>
            <a:r>
              <a:rPr lang="en-US" sz="1200" dirty="0"/>
              <a:t>Ministry of Agriculture lacks a centralized, digital system to identify all coffee growers, track their production, plan and distribute seedlings and other resources effectively, and enable extension workers to provide farm advice. Current manual processes are fragmented, error‑prone, and inefficient.</a:t>
            </a:r>
            <a:endParaRPr lang="en-US" sz="1200" dirty="0"/>
          </a:p>
        </p:txBody>
      </p:sp>
      <p:sp>
        <p:nvSpPr>
          <p:cNvPr id="10" name="Shape 8"/>
          <p:cNvSpPr/>
          <p:nvPr/>
        </p:nvSpPr>
        <p:spPr>
          <a:xfrm>
            <a:off x="3273552" y="1325880"/>
            <a:ext cx="2606040" cy="3383280"/>
          </a:xfrm>
          <a:prstGeom prst="rect">
            <a:avLst/>
          </a:prstGeom>
          <a:solidFill>
            <a:srgbClr val="FFFFFF"/>
          </a:solidFill>
          <a:ln w="12700">
            <a:solidFill>
              <a:srgbClr val="D8E8C8"/>
            </a:solidFill>
            <a:prstDash val="solid"/>
          </a:ln>
          <a:effectLst>
            <a:outerShdw blurRad="76200" dist="25400" dir="8100000" algn="bl" rotWithShape="0">
              <a:srgbClr val="000000">
                <a:alpha val="8000"/>
              </a:srgbClr>
            </a:outerShdw>
          </a:effectLst>
        </p:spPr>
      </p:sp>
      <p:sp>
        <p:nvSpPr>
          <p:cNvPr id="11" name="Shape 9"/>
          <p:cNvSpPr/>
          <p:nvPr/>
        </p:nvSpPr>
        <p:spPr>
          <a:xfrm>
            <a:off x="3273552" y="1325880"/>
            <a:ext cx="2606040" cy="91440"/>
          </a:xfrm>
          <a:prstGeom prst="rect">
            <a:avLst/>
          </a:prstGeom>
          <a:solidFill>
            <a:srgbClr val="6AAB3A"/>
          </a:solidFill>
          <a:ln w="12700">
            <a:solidFill>
              <a:srgbClr val="6AAB3A"/>
            </a:solidFill>
            <a:prstDash val="solid"/>
          </a:ln>
        </p:spPr>
      </p:sp>
      <p:sp>
        <p:nvSpPr>
          <p:cNvPr id="12" name="Text 10"/>
          <p:cNvSpPr/>
          <p:nvPr/>
        </p:nvSpPr>
        <p:spPr>
          <a:xfrm>
            <a:off x="3410712" y="1481328"/>
            <a:ext cx="2331720" cy="365760"/>
          </a:xfrm>
          <a:prstGeom prst="rect">
            <a:avLst/>
          </a:prstGeom>
          <a:noFill/>
          <a:ln/>
        </p:spPr>
        <p:txBody>
          <a:bodyPr wrap="square" lIns="0" tIns="0" rIns="0" bIns="0" rtlCol="0" anchor="ctr"/>
          <a:lstStyle/>
          <a:p>
            <a:pPr marL="0" indent="0">
              <a:buNone/>
            </a:pPr>
            <a:r>
              <a:rPr lang="en-US" sz="1400" b="1" dirty="0">
                <a:solidFill>
                  <a:srgbClr val="2C5F2D"/>
                </a:solidFill>
                <a:latin typeface="Trebuchet MS" pitchFamily="34" charset="0"/>
                <a:ea typeface="Trebuchet MS" pitchFamily="34" charset="-122"/>
                <a:cs typeface="Trebuchet MS" pitchFamily="34" charset="-120"/>
              </a:rPr>
              <a:t>Goal</a:t>
            </a:r>
            <a:endParaRPr lang="en-US" sz="1400" dirty="0"/>
          </a:p>
        </p:txBody>
      </p:sp>
      <p:sp>
        <p:nvSpPr>
          <p:cNvPr id="13" name="Text 11"/>
          <p:cNvSpPr/>
          <p:nvPr/>
        </p:nvSpPr>
        <p:spPr>
          <a:xfrm>
            <a:off x="3410712" y="1920240"/>
            <a:ext cx="2331720" cy="2560320"/>
          </a:xfrm>
          <a:prstGeom prst="rect">
            <a:avLst/>
          </a:prstGeom>
          <a:noFill/>
          <a:ln/>
        </p:spPr>
        <p:txBody>
          <a:bodyPr wrap="square" rtlCol="0" anchor="t"/>
          <a:lstStyle/>
          <a:p>
            <a:pPr marL="0" indent="0">
              <a:buNone/>
            </a:pPr>
            <a:r>
              <a:rPr lang="en-US" sz="1250" dirty="0">
                <a:solidFill>
                  <a:srgbClr val="1A2E1A"/>
                </a:solidFill>
                <a:latin typeface="Calibri" pitchFamily="34" charset="0"/>
                <a:ea typeface="Calibri" pitchFamily="34" charset="-122"/>
                <a:cs typeface="Calibri" pitchFamily="34" charset="-120"/>
              </a:rPr>
              <a:t>Digitize coffee production data for the Ministry of Agriculture with a centralized, normalized relational database.</a:t>
            </a:r>
            <a:endParaRPr lang="en-US" sz="1250" dirty="0"/>
          </a:p>
        </p:txBody>
      </p:sp>
      <p:sp>
        <p:nvSpPr>
          <p:cNvPr id="14" name="Shape 12"/>
          <p:cNvSpPr/>
          <p:nvPr/>
        </p:nvSpPr>
        <p:spPr>
          <a:xfrm>
            <a:off x="6089904" y="1325880"/>
            <a:ext cx="2606040" cy="3383280"/>
          </a:xfrm>
          <a:prstGeom prst="rect">
            <a:avLst/>
          </a:prstGeom>
          <a:solidFill>
            <a:srgbClr val="FFFFFF"/>
          </a:solidFill>
          <a:ln w="12700">
            <a:solidFill>
              <a:srgbClr val="D8E8C8"/>
            </a:solidFill>
            <a:prstDash val="solid"/>
          </a:ln>
          <a:effectLst>
            <a:outerShdw blurRad="76200" dist="25400" dir="8100000" algn="bl" rotWithShape="0">
              <a:srgbClr val="000000">
                <a:alpha val="8000"/>
              </a:srgbClr>
            </a:outerShdw>
          </a:effectLst>
        </p:spPr>
      </p:sp>
      <p:sp>
        <p:nvSpPr>
          <p:cNvPr id="15" name="Shape 13"/>
          <p:cNvSpPr/>
          <p:nvPr/>
        </p:nvSpPr>
        <p:spPr>
          <a:xfrm>
            <a:off x="6089904" y="1325880"/>
            <a:ext cx="2606040" cy="91440"/>
          </a:xfrm>
          <a:prstGeom prst="rect">
            <a:avLst/>
          </a:prstGeom>
          <a:solidFill>
            <a:srgbClr val="6AAB3A"/>
          </a:solidFill>
          <a:ln w="12700">
            <a:solidFill>
              <a:srgbClr val="6AAB3A"/>
            </a:solidFill>
            <a:prstDash val="solid"/>
          </a:ln>
        </p:spPr>
      </p:sp>
      <p:sp>
        <p:nvSpPr>
          <p:cNvPr id="16" name="Text 14"/>
          <p:cNvSpPr/>
          <p:nvPr/>
        </p:nvSpPr>
        <p:spPr>
          <a:xfrm>
            <a:off x="6227064" y="1481328"/>
            <a:ext cx="2331720" cy="365760"/>
          </a:xfrm>
          <a:prstGeom prst="rect">
            <a:avLst/>
          </a:prstGeom>
          <a:noFill/>
          <a:ln/>
        </p:spPr>
        <p:txBody>
          <a:bodyPr wrap="square" lIns="0" tIns="0" rIns="0" bIns="0" rtlCol="0" anchor="ctr"/>
          <a:lstStyle/>
          <a:p>
            <a:pPr marL="0" indent="0">
              <a:buNone/>
            </a:pPr>
            <a:r>
              <a:rPr lang="en-US" sz="1400" b="1" dirty="0">
                <a:solidFill>
                  <a:srgbClr val="2C5F2D"/>
                </a:solidFill>
                <a:latin typeface="Trebuchet MS" pitchFamily="34" charset="0"/>
                <a:ea typeface="Trebuchet MS" pitchFamily="34" charset="-122"/>
                <a:cs typeface="Trebuchet MS" pitchFamily="34" charset="-120"/>
              </a:rPr>
              <a:t>Solution</a:t>
            </a:r>
            <a:endParaRPr lang="en-US" sz="1400" dirty="0"/>
          </a:p>
        </p:txBody>
      </p:sp>
      <p:sp>
        <p:nvSpPr>
          <p:cNvPr id="17" name="Text 15"/>
          <p:cNvSpPr/>
          <p:nvPr/>
        </p:nvSpPr>
        <p:spPr>
          <a:xfrm>
            <a:off x="6227064" y="1920240"/>
            <a:ext cx="2331720" cy="2560320"/>
          </a:xfrm>
          <a:prstGeom prst="rect">
            <a:avLst/>
          </a:prstGeom>
          <a:noFill/>
          <a:ln/>
        </p:spPr>
        <p:txBody>
          <a:bodyPr wrap="square" rtlCol="0" anchor="t"/>
          <a:lstStyle/>
          <a:p>
            <a:pPr marL="0" indent="0">
              <a:buNone/>
            </a:pPr>
            <a:r>
              <a:rPr lang="en-US" sz="1250" dirty="0">
                <a:solidFill>
                  <a:srgbClr val="1A2E1A"/>
                </a:solidFill>
                <a:latin typeface="Calibri" pitchFamily="34" charset="0"/>
                <a:ea typeface="Calibri" pitchFamily="34" charset="-122"/>
                <a:cs typeface="Calibri" pitchFamily="34" charset="-120"/>
              </a:rPr>
              <a:t>A 3NF relational DB with a PERSON supertype, a dedicated LOCATION entity, and VISIT records </a:t>
            </a:r>
            <a:r>
              <a:rPr lang="en-US" sz="1250" dirty="0" smtClean="0">
                <a:solidFill>
                  <a:srgbClr val="1A2E1A"/>
                </a:solidFill>
                <a:latin typeface="Calibri" pitchFamily="34" charset="0"/>
                <a:ea typeface="Calibri" pitchFamily="34" charset="-122"/>
                <a:cs typeface="Calibri" pitchFamily="34" charset="-120"/>
              </a:rPr>
              <a:t> </a:t>
            </a:r>
            <a:r>
              <a:rPr lang="en-US" sz="1250" dirty="0">
                <a:solidFill>
                  <a:srgbClr val="1A2E1A"/>
                </a:solidFill>
                <a:latin typeface="Calibri" pitchFamily="34" charset="0"/>
                <a:ea typeface="Calibri" pitchFamily="34" charset="-122"/>
                <a:cs typeface="Calibri" pitchFamily="34" charset="-120"/>
              </a:rPr>
              <a:t>ensuring integrity, security &amp; automation.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4F7F0"/>
        </a:solidFill>
        <a:effectLst/>
      </p:bgPr>
    </p:bg>
    <p:spTree>
      <p:nvGrpSpPr>
        <p:cNvPr id="1" name=""/>
        <p:cNvGrpSpPr/>
        <p:nvPr/>
      </p:nvGrpSpPr>
      <p:grpSpPr>
        <a:xfrm>
          <a:off x="0" y="0"/>
          <a:ext cx="0" cy="0"/>
          <a:chOff x="0" y="0"/>
          <a:chExt cx="0" cy="0"/>
        </a:xfrm>
      </p:grpSpPr>
      <p:sp>
        <p:nvSpPr>
          <p:cNvPr id="2" name="Shape 0"/>
          <p:cNvSpPr/>
          <p:nvPr/>
        </p:nvSpPr>
        <p:spPr>
          <a:xfrm>
            <a:off x="457200" y="502920"/>
            <a:ext cx="64008" cy="594360"/>
          </a:xfrm>
          <a:prstGeom prst="rect">
            <a:avLst/>
          </a:prstGeom>
          <a:solidFill>
            <a:srgbClr val="6AAB3A"/>
          </a:solidFill>
          <a:ln w="12700">
            <a:solidFill>
              <a:srgbClr val="6AAB3A"/>
            </a:solidFill>
            <a:prstDash val="solid"/>
          </a:ln>
        </p:spPr>
      </p:sp>
      <p:sp>
        <p:nvSpPr>
          <p:cNvPr id="3" name="Text 1"/>
          <p:cNvSpPr/>
          <p:nvPr/>
        </p:nvSpPr>
        <p:spPr>
          <a:xfrm>
            <a:off x="612648" y="457200"/>
            <a:ext cx="8046720" cy="685800"/>
          </a:xfrm>
          <a:prstGeom prst="rect">
            <a:avLst/>
          </a:prstGeom>
          <a:noFill/>
          <a:ln/>
        </p:spPr>
        <p:txBody>
          <a:bodyPr wrap="square" lIns="0" tIns="0" rIns="0" bIns="0" rtlCol="0" anchor="ctr"/>
          <a:lstStyle/>
          <a:p>
            <a:pPr marL="0" indent="0">
              <a:buNone/>
            </a:pPr>
            <a:r>
              <a:rPr lang="en-US" sz="2800" b="1" dirty="0">
                <a:solidFill>
                  <a:srgbClr val="1A2E1A"/>
                </a:solidFill>
                <a:latin typeface="Trebuchet MS" pitchFamily="34" charset="0"/>
                <a:ea typeface="Trebuchet MS" pitchFamily="34" charset="-122"/>
                <a:cs typeface="Trebuchet MS" pitchFamily="34" charset="-120"/>
              </a:rPr>
              <a:t>2. EERD &amp; Core Entities</a:t>
            </a:r>
            <a:endParaRPr lang="en-US" sz="2800" dirty="0"/>
          </a:p>
        </p:txBody>
      </p:sp>
      <p:sp>
        <p:nvSpPr>
          <p:cNvPr id="4" name="Shape 2"/>
          <p:cNvSpPr/>
          <p:nvPr/>
        </p:nvSpPr>
        <p:spPr>
          <a:xfrm>
            <a:off x="457200" y="1170432"/>
            <a:ext cx="8229600" cy="0"/>
          </a:xfrm>
          <a:prstGeom prst="line">
            <a:avLst/>
          </a:prstGeom>
          <a:noFill/>
          <a:ln w="15240">
            <a:solidFill>
              <a:srgbClr val="6AAB3A"/>
            </a:solidFill>
            <a:prstDash val="solid"/>
          </a:ln>
        </p:spPr>
      </p:sp>
      <p:sp>
        <p:nvSpPr>
          <p:cNvPr id="5" name="Text 3"/>
          <p:cNvSpPr/>
          <p:nvPr/>
        </p:nvSpPr>
        <p:spPr>
          <a:xfrm>
            <a:off x="8046720" y="4864608"/>
            <a:ext cx="914400" cy="274320"/>
          </a:xfrm>
          <a:prstGeom prst="rect">
            <a:avLst/>
          </a:prstGeom>
          <a:noFill/>
          <a:ln/>
        </p:spPr>
        <p:txBody>
          <a:bodyPr wrap="square" rtlCol="0" anchor="ctr"/>
          <a:lstStyle/>
          <a:p>
            <a:pPr marL="0" indent="0" algn="r">
              <a:buNone/>
            </a:pPr>
            <a:r>
              <a:rPr lang="en-US" sz="900" dirty="0">
                <a:solidFill>
                  <a:srgbClr val="4A6741"/>
                </a:solidFill>
                <a:latin typeface="Calibri" pitchFamily="34" charset="0"/>
                <a:ea typeface="Calibri" pitchFamily="34" charset="-122"/>
                <a:cs typeface="Calibri" pitchFamily="34" charset="-120"/>
              </a:rPr>
              <a:t>4 / 10</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4207357031"/>
              </p:ext>
            </p:extLst>
          </p:nvPr>
        </p:nvGraphicFramePr>
        <p:xfrm>
          <a:off x="365760" y="1234440"/>
          <a:ext cx="8412480" cy="3477768"/>
        </p:xfrm>
        <a:graphic>
          <a:graphicData uri="http://schemas.openxmlformats.org/drawingml/2006/table">
            <a:tbl>
              <a:tblPr/>
              <a:tblGrid>
                <a:gridCol w="1828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01752">
                <a:tc>
                  <a:txBody>
                    <a:bodyPr/>
                    <a:lstStyle/>
                    <a:p>
                      <a:pPr marL="0" indent="0">
                        <a:buNone/>
                      </a:pPr>
                      <a:r>
                        <a:rPr lang="en-US" sz="1000" b="1" dirty="0">
                          <a:solidFill>
                            <a:srgbClr val="FFFFFF"/>
                          </a:solidFill>
                        </a:rPr>
                        <a:t>Entity</a:t>
                      </a:r>
                      <a:endParaRPr lang="en-US" sz="100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2C5F2D"/>
                    </a:solidFill>
                  </a:tcPr>
                </a:tc>
                <a:tc>
                  <a:txBody>
                    <a:bodyPr/>
                    <a:lstStyle/>
                    <a:p>
                      <a:pPr marL="0" indent="0">
                        <a:buNone/>
                      </a:pPr>
                      <a:r>
                        <a:rPr lang="en-US" sz="1000" b="1" dirty="0">
                          <a:solidFill>
                            <a:srgbClr val="FFFFFF"/>
                          </a:solidFill>
                        </a:rPr>
                        <a:t>Key Attributes</a:t>
                      </a:r>
                      <a:endParaRPr lang="en-US" sz="100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2C5F2D"/>
                    </a:solidFill>
                  </a:tcPr>
                </a:tc>
                <a:tc>
                  <a:txBody>
                    <a:bodyPr/>
                    <a:lstStyle/>
                    <a:p>
                      <a:pPr marL="0" indent="0">
                        <a:buNone/>
                      </a:pPr>
                      <a:r>
                        <a:rPr lang="en-US" sz="1000" b="1" dirty="0">
                          <a:solidFill>
                            <a:srgbClr val="FFFFFF"/>
                          </a:solidFill>
                        </a:rPr>
                        <a:t>Relationships</a:t>
                      </a:r>
                      <a:endParaRPr lang="en-US" sz="100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301752">
                <a:tc>
                  <a:txBody>
                    <a:bodyPr/>
                    <a:lstStyle/>
                    <a:p>
                      <a:pPr marL="0" indent="0">
                        <a:buNone/>
                      </a:pPr>
                      <a:r>
                        <a:rPr lang="en-US" sz="950" dirty="0">
                          <a:solidFill>
                            <a:srgbClr val="1A2E1A"/>
                          </a:solidFill>
                        </a:rPr>
                        <a:t>PERSON (supertype)</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person_id (PK</a:t>
                      </a:r>
                      <a:r>
                        <a:rPr lang="en-US" sz="950" dirty="0" smtClean="0">
                          <a:solidFill>
                            <a:srgbClr val="1A2E1A"/>
                          </a:solidFill>
                        </a:rPr>
                        <a: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Specializes into FARMER, MINISTRY OFFICIAL, EXTENSION WORKERS</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950" dirty="0">
                          <a:solidFill>
                            <a:srgbClr val="1A2E1A"/>
                          </a:solidFill>
                        </a:rPr>
                        <a:t>FARMER</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farmer_id (</a:t>
                      </a:r>
                      <a:r>
                        <a:rPr lang="en-US" sz="950" dirty="0" smtClean="0">
                          <a:solidFill>
                            <a:srgbClr val="1A2E1A"/>
                          </a:solidFill>
                        </a:rPr>
                        <a:t>PK)</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LIVES IN → LOCATION; OWNS → FARM (1:M)</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extLst>
                  <a:ext uri="{0D108BD9-81ED-4DB2-BD59-A6C34878D82A}">
                    <a16:rowId xmlns:a16="http://schemas.microsoft.com/office/drawing/2014/main" val="10002"/>
                  </a:ext>
                </a:extLst>
              </a:tr>
              <a:tr h="301752">
                <a:tc>
                  <a:txBody>
                    <a:bodyPr/>
                    <a:lstStyle/>
                    <a:p>
                      <a:pPr marL="0" indent="0">
                        <a:buNone/>
                      </a:pPr>
                      <a:r>
                        <a:rPr lang="en-US" sz="950" dirty="0">
                          <a:solidFill>
                            <a:srgbClr val="1A2E1A"/>
                          </a:solidFill>
                        </a:rPr>
                        <a:t>LOCATION</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location_id (PK</a:t>
                      </a:r>
                      <a:r>
                        <a:rPr lang="en-US" sz="950" dirty="0" smtClean="0">
                          <a:solidFill>
                            <a:srgbClr val="1A2E1A"/>
                          </a:solidFill>
                        </a:rPr>
                        <a: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IS LOCATED (FARM); LIVES IN (FARMER); IS VISITED (EXTENSION WORKERS)</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950" dirty="0">
                          <a:solidFill>
                            <a:srgbClr val="1A2E1A"/>
                          </a:solidFill>
                        </a:rPr>
                        <a:t>FARM</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farm_id (PK), farmer_id (FK), </a:t>
                      </a:r>
                      <a:r>
                        <a:rPr lang="en-US" sz="950" dirty="0" err="1" smtClean="0">
                          <a:solidFill>
                            <a:srgbClr val="1A2E1A"/>
                          </a:solidFill>
                        </a:rPr>
                        <a:t>location_id</a:t>
                      </a:r>
                      <a:r>
                        <a:rPr lang="en-US" sz="950" dirty="0" smtClean="0">
                          <a:solidFill>
                            <a:srgbClr val="1A2E1A"/>
                          </a:solidFill>
                        </a:rPr>
                        <a:t> </a:t>
                      </a:r>
                      <a:r>
                        <a:rPr lang="en-US" sz="950" dirty="0">
                          <a:solidFill>
                            <a:srgbClr val="1A2E1A"/>
                          </a:solidFill>
                        </a:rPr>
                        <a:t>(FK)</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OWNS ← FARMER; PRODUCES → PRODUCTION (1:M)</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extLst>
                  <a:ext uri="{0D108BD9-81ED-4DB2-BD59-A6C34878D82A}">
                    <a16:rowId xmlns:a16="http://schemas.microsoft.com/office/drawing/2014/main" val="10004"/>
                  </a:ext>
                </a:extLst>
              </a:tr>
              <a:tr h="301752">
                <a:tc>
                  <a:txBody>
                    <a:bodyPr/>
                    <a:lstStyle/>
                    <a:p>
                      <a:pPr marL="0" indent="0">
                        <a:buNone/>
                      </a:pPr>
                      <a:r>
                        <a:rPr lang="en-US" sz="950" dirty="0">
                          <a:solidFill>
                            <a:srgbClr val="1A2E1A"/>
                          </a:solidFill>
                        </a:rPr>
                        <a:t>PRODUCTION</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production_id (PK), farm_id (FK</a:t>
                      </a:r>
                      <a:r>
                        <a:rPr lang="en-US" sz="950" dirty="0" smtClean="0">
                          <a:solidFill>
                            <a:srgbClr val="1A2E1A"/>
                          </a:solidFill>
                        </a:rPr>
                        <a: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PRODUCES ← FARM; INCLUDES → DISTRIBUTION</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buNone/>
                      </a:pPr>
                      <a:r>
                        <a:rPr lang="en-US" sz="950" dirty="0">
                          <a:solidFill>
                            <a:srgbClr val="1A2E1A"/>
                          </a:solidFill>
                        </a:rPr>
                        <a:t>RESOURCE</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resource_id (PK</a:t>
                      </a:r>
                      <a:r>
                        <a:rPr lang="en-US" sz="950" dirty="0" smtClean="0">
                          <a:solidFill>
                            <a:srgbClr val="1A2E1A"/>
                          </a:solidFill>
                        </a:rPr>
                        <a: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Linked via DISTRIBUTION; ASSIGNED TO → FARM</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extLst>
                  <a:ext uri="{0D108BD9-81ED-4DB2-BD59-A6C34878D82A}">
                    <a16:rowId xmlns:a16="http://schemas.microsoft.com/office/drawing/2014/main" val="10006"/>
                  </a:ext>
                </a:extLst>
              </a:tr>
              <a:tr h="301752">
                <a:tc>
                  <a:txBody>
                    <a:bodyPr/>
                    <a:lstStyle/>
                    <a:p>
                      <a:pPr marL="0" indent="0">
                        <a:buNone/>
                      </a:pPr>
                      <a:r>
                        <a:rPr lang="en-US" sz="950" dirty="0">
                          <a:solidFill>
                            <a:srgbClr val="1A2E1A"/>
                          </a:solidFill>
                        </a:rPr>
                        <a:t>DISTRIBUTION</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distr_id (PK), farm_id (FK), official_id (FK), resource_id (FK</a:t>
                      </a:r>
                      <a:r>
                        <a:rPr lang="en-US" sz="950" dirty="0" smtClean="0">
                          <a:solidFill>
                            <a:srgbClr val="1A2E1A"/>
                          </a:solidFill>
                        </a:rPr>
                        <a: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APPROVES ← MINISTRY OFFICIAL; INCLUDES ← PRODUCTION</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buNone/>
                      </a:pPr>
                      <a:r>
                        <a:rPr lang="en-US" sz="950" dirty="0">
                          <a:solidFill>
                            <a:srgbClr val="1A2E1A"/>
                          </a:solidFill>
                        </a:rPr>
                        <a:t>VISIT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visit_id (PK</a:t>
                      </a:r>
                      <a:r>
                        <a:rPr lang="en-US" sz="950" dirty="0" smtClean="0">
                          <a:solidFill>
                            <a:srgbClr val="1A2E1A"/>
                          </a:solidFill>
                        </a:rPr>
                        <a:t>), </a:t>
                      </a:r>
                      <a:r>
                        <a:rPr lang="en-US" sz="950" dirty="0" err="1" smtClean="0">
                          <a:solidFill>
                            <a:srgbClr val="1A2E1A"/>
                          </a:solidFill>
                        </a:rPr>
                        <a:t>worker_id</a:t>
                      </a:r>
                      <a:r>
                        <a:rPr lang="en-US" sz="950" dirty="0" smtClean="0">
                          <a:solidFill>
                            <a:srgbClr val="1A2E1A"/>
                          </a:solidFill>
                        </a:rPr>
                        <a:t> (FK)</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VISITS ← EXTENSION WORKERS; RECEIVES ← FARM</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extLst>
                  <a:ext uri="{0D108BD9-81ED-4DB2-BD59-A6C34878D82A}">
                    <a16:rowId xmlns:a16="http://schemas.microsoft.com/office/drawing/2014/main" val="10008"/>
                  </a:ext>
                </a:extLst>
              </a:tr>
              <a:tr h="301752">
                <a:tc>
                  <a:txBody>
                    <a:bodyPr/>
                    <a:lstStyle/>
                    <a:p>
                      <a:pPr marL="0" indent="0">
                        <a:buNone/>
                      </a:pPr>
                      <a:r>
                        <a:rPr lang="en-US" sz="950" dirty="0">
                          <a:solidFill>
                            <a:srgbClr val="1A2E1A"/>
                          </a:solidFill>
                        </a:rPr>
                        <a:t>EXTENSION WORKERS</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worker_id (PK/FK</a:t>
                      </a:r>
                      <a:r>
                        <a:rPr lang="en-US" sz="950" dirty="0" smtClean="0">
                          <a:solidFill>
                            <a:srgbClr val="1A2E1A"/>
                          </a:solidFill>
                        </a:rPr>
                        <a: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SUPERVISES; VISITS → FARM; IS VISITED ← LOCATION</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1752">
                <a:tc>
                  <a:txBody>
                    <a:bodyPr/>
                    <a:lstStyle/>
                    <a:p>
                      <a:pPr marL="0" indent="0">
                        <a:buNone/>
                      </a:pPr>
                      <a:r>
                        <a:rPr lang="en-US" sz="950" dirty="0">
                          <a:solidFill>
                            <a:srgbClr val="1A2E1A"/>
                          </a:solidFill>
                        </a:rPr>
                        <a:t>MINISTRY OFFICIAL</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official_id (PK/FK</a:t>
                      </a:r>
                      <a:r>
                        <a:rPr lang="en-US" sz="950" dirty="0" smtClean="0">
                          <a:solidFill>
                            <a:srgbClr val="1A2E1A"/>
                          </a:solidFill>
                        </a:rPr>
                        <a: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APPROVES → DISTRIBUTION; RECEIVES ← RESOURCE</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4F7F0"/>
        </a:solidFill>
        <a:effectLst/>
      </p:bgPr>
    </p:bg>
    <p:spTree>
      <p:nvGrpSpPr>
        <p:cNvPr id="1" name=""/>
        <p:cNvGrpSpPr/>
        <p:nvPr/>
      </p:nvGrpSpPr>
      <p:grpSpPr>
        <a:xfrm>
          <a:off x="0" y="0"/>
          <a:ext cx="0" cy="0"/>
          <a:chOff x="0" y="0"/>
          <a:chExt cx="0" cy="0"/>
        </a:xfrm>
      </p:grpSpPr>
      <p:sp>
        <p:nvSpPr>
          <p:cNvPr id="2" name="Shape 0"/>
          <p:cNvSpPr/>
          <p:nvPr/>
        </p:nvSpPr>
        <p:spPr>
          <a:xfrm>
            <a:off x="457200" y="502920"/>
            <a:ext cx="64008" cy="594360"/>
          </a:xfrm>
          <a:prstGeom prst="rect">
            <a:avLst/>
          </a:prstGeom>
          <a:solidFill>
            <a:srgbClr val="6AAB3A"/>
          </a:solidFill>
          <a:ln w="12700">
            <a:solidFill>
              <a:srgbClr val="6AAB3A"/>
            </a:solidFill>
            <a:prstDash val="solid"/>
          </a:ln>
        </p:spPr>
      </p:sp>
      <p:sp>
        <p:nvSpPr>
          <p:cNvPr id="3" name="Text 1"/>
          <p:cNvSpPr/>
          <p:nvPr/>
        </p:nvSpPr>
        <p:spPr>
          <a:xfrm>
            <a:off x="612648" y="457200"/>
            <a:ext cx="8046720" cy="685800"/>
          </a:xfrm>
          <a:prstGeom prst="rect">
            <a:avLst/>
          </a:prstGeom>
          <a:noFill/>
          <a:ln/>
        </p:spPr>
        <p:txBody>
          <a:bodyPr wrap="square" lIns="0" tIns="0" rIns="0" bIns="0" rtlCol="0" anchor="ctr"/>
          <a:lstStyle/>
          <a:p>
            <a:pPr marL="0" indent="0">
              <a:buNone/>
            </a:pPr>
            <a:r>
              <a:rPr lang="en-US" sz="2800" b="1" dirty="0">
                <a:solidFill>
                  <a:srgbClr val="1A2E1A"/>
                </a:solidFill>
                <a:latin typeface="Trebuchet MS" pitchFamily="34" charset="0"/>
                <a:ea typeface="Trebuchet MS" pitchFamily="34" charset="-122"/>
                <a:cs typeface="Trebuchet MS" pitchFamily="34" charset="-120"/>
              </a:rPr>
              <a:t>3. Database Design Features</a:t>
            </a:r>
            <a:endParaRPr lang="en-US" sz="2800" dirty="0"/>
          </a:p>
        </p:txBody>
      </p:sp>
      <p:sp>
        <p:nvSpPr>
          <p:cNvPr id="4" name="Shape 2"/>
          <p:cNvSpPr/>
          <p:nvPr/>
        </p:nvSpPr>
        <p:spPr>
          <a:xfrm>
            <a:off x="457200" y="1170432"/>
            <a:ext cx="8229600" cy="0"/>
          </a:xfrm>
          <a:prstGeom prst="line">
            <a:avLst/>
          </a:prstGeom>
          <a:noFill/>
          <a:ln w="15240">
            <a:solidFill>
              <a:srgbClr val="6AAB3A"/>
            </a:solidFill>
            <a:prstDash val="solid"/>
          </a:ln>
        </p:spPr>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4A6741"/>
                </a:solidFill>
                <a:latin typeface="Calibri" pitchFamily="34" charset="0"/>
                <a:ea typeface="Calibri" pitchFamily="34" charset="-122"/>
                <a:cs typeface="Calibri" pitchFamily="34" charset="-120"/>
              </a:rPr>
              <a:t>5 / 10</a:t>
            </a:r>
            <a:endParaRPr lang="en-US" sz="900" dirty="0"/>
          </a:p>
        </p:txBody>
      </p:sp>
      <p:sp>
        <p:nvSpPr>
          <p:cNvPr id="6" name="Shape 4"/>
          <p:cNvSpPr/>
          <p:nvPr/>
        </p:nvSpPr>
        <p:spPr>
          <a:xfrm>
            <a:off x="365760" y="1325880"/>
            <a:ext cx="2651760" cy="3429000"/>
          </a:xfrm>
          <a:prstGeom prst="rect">
            <a:avLst/>
          </a:prstGeom>
          <a:solidFill>
            <a:srgbClr val="FFFFFF"/>
          </a:solidFill>
          <a:ln w="12700">
            <a:solidFill>
              <a:srgbClr val="D0E8B8"/>
            </a:solidFill>
            <a:prstDash val="solid"/>
          </a:ln>
          <a:effectLst>
            <a:outerShdw blurRad="63500" dist="25400" dir="8100000" algn="bl" rotWithShape="0">
              <a:srgbClr val="000000">
                <a:alpha val="8000"/>
              </a:srgbClr>
            </a:outerShdw>
          </a:effectLst>
        </p:spPr>
      </p:sp>
      <p:sp>
        <p:nvSpPr>
          <p:cNvPr id="7" name="Shape 5"/>
          <p:cNvSpPr/>
          <p:nvPr/>
        </p:nvSpPr>
        <p:spPr>
          <a:xfrm>
            <a:off x="365760" y="1325880"/>
            <a:ext cx="2651760" cy="438912"/>
          </a:xfrm>
          <a:prstGeom prst="rect">
            <a:avLst/>
          </a:prstGeom>
          <a:solidFill>
            <a:srgbClr val="2C5F2D"/>
          </a:solidFill>
          <a:ln w="12700">
            <a:solidFill>
              <a:srgbClr val="2C5F2D"/>
            </a:solidFill>
            <a:prstDash val="solid"/>
          </a:ln>
        </p:spPr>
      </p:sp>
      <p:sp>
        <p:nvSpPr>
          <p:cNvPr id="8" name="Text 6"/>
          <p:cNvSpPr/>
          <p:nvPr/>
        </p:nvSpPr>
        <p:spPr>
          <a:xfrm>
            <a:off x="475488" y="1371600"/>
            <a:ext cx="2432304" cy="384048"/>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Normalization (3NF)</a:t>
            </a:r>
            <a:endParaRPr lang="en-US" sz="1250" dirty="0"/>
          </a:p>
        </p:txBody>
      </p:sp>
      <p:sp>
        <p:nvSpPr>
          <p:cNvPr id="9" name="Text 7"/>
          <p:cNvSpPr/>
          <p:nvPr/>
        </p:nvSpPr>
        <p:spPr>
          <a:xfrm>
            <a:off x="475488" y="1874520"/>
            <a:ext cx="2432304" cy="2743200"/>
          </a:xfrm>
          <a:prstGeom prst="rect">
            <a:avLst/>
          </a:prstGeom>
          <a:noFill/>
          <a:ln/>
        </p:spPr>
        <p:txBody>
          <a:bodyPr wrap="square" rtlCol="0" anchor="t"/>
          <a:lstStyle/>
          <a:p>
            <a:pPr marL="342900" indent="-342900">
              <a:spcAft>
                <a:spcPts val="500"/>
              </a:spcAft>
              <a:buSzPct val="100000"/>
              <a:buChar char="•"/>
            </a:pPr>
            <a:r>
              <a:rPr lang="en-US" sz="1150" dirty="0">
                <a:solidFill>
                  <a:srgbClr val="1A2E1A"/>
                </a:solidFill>
                <a:latin typeface="Calibri" pitchFamily="34" charset="0"/>
                <a:ea typeface="Calibri" pitchFamily="34" charset="-122"/>
                <a:cs typeface="Calibri" pitchFamily="34" charset="-120"/>
              </a:rPr>
              <a:t>Tables normalized to 3rd Normal </a:t>
            </a:r>
            <a:r>
              <a:rPr lang="en-US" sz="1150" dirty="0" smtClean="0">
                <a:solidFill>
                  <a:srgbClr val="1A2E1A"/>
                </a:solidFill>
                <a:latin typeface="Calibri" pitchFamily="34" charset="0"/>
                <a:ea typeface="Calibri" pitchFamily="34" charset="-122"/>
                <a:cs typeface="Calibri" pitchFamily="34" charset="-120"/>
              </a:rPr>
              <a:t>Form.</a:t>
            </a:r>
            <a:endParaRPr lang="en-US" sz="1150" dirty="0"/>
          </a:p>
          <a:p>
            <a:pPr marL="342900" indent="-342900">
              <a:spcAft>
                <a:spcPts val="500"/>
              </a:spcAft>
              <a:buSzPct val="100000"/>
              <a:buChar char="•"/>
            </a:pPr>
            <a:r>
              <a:rPr lang="en-US" sz="1150" dirty="0">
                <a:solidFill>
                  <a:srgbClr val="1A2E1A"/>
                </a:solidFill>
                <a:latin typeface="Calibri" pitchFamily="34" charset="0"/>
                <a:ea typeface="Calibri" pitchFamily="34" charset="-122"/>
                <a:cs typeface="Calibri" pitchFamily="34" charset="-120"/>
              </a:rPr>
              <a:t>Eliminates data </a:t>
            </a:r>
            <a:r>
              <a:rPr lang="en-US" sz="1150" dirty="0" smtClean="0">
                <a:solidFill>
                  <a:srgbClr val="1A2E1A"/>
                </a:solidFill>
                <a:latin typeface="Calibri" pitchFamily="34" charset="0"/>
                <a:ea typeface="Calibri" pitchFamily="34" charset="-122"/>
                <a:cs typeface="Calibri" pitchFamily="34" charset="-120"/>
              </a:rPr>
              <a:t>redundancy.</a:t>
            </a:r>
            <a:endParaRPr lang="en-US" sz="1150" dirty="0"/>
          </a:p>
          <a:p>
            <a:pPr marL="342900" indent="-342900">
              <a:spcAft>
                <a:spcPts val="500"/>
              </a:spcAft>
              <a:buSzPct val="100000"/>
              <a:buChar char="•"/>
            </a:pPr>
            <a:r>
              <a:rPr lang="en-US" sz="1150" dirty="0">
                <a:solidFill>
                  <a:srgbClr val="1A2E1A"/>
                </a:solidFill>
                <a:latin typeface="Calibri" pitchFamily="34" charset="0"/>
                <a:ea typeface="Calibri" pitchFamily="34" charset="-122"/>
                <a:cs typeface="Calibri" pitchFamily="34" charset="-120"/>
              </a:rPr>
              <a:t>LOCATION is a separate entity (district, region) — referenced by FARMER &amp; FARM via </a:t>
            </a:r>
            <a:r>
              <a:rPr lang="en-US" sz="1150" dirty="0" smtClean="0">
                <a:solidFill>
                  <a:srgbClr val="1A2E1A"/>
                </a:solidFill>
                <a:latin typeface="Calibri" pitchFamily="34" charset="0"/>
                <a:ea typeface="Calibri" pitchFamily="34" charset="-122"/>
                <a:cs typeface="Calibri" pitchFamily="34" charset="-120"/>
              </a:rPr>
              <a:t>FK.</a:t>
            </a:r>
            <a:endParaRPr lang="en-US" sz="1150" dirty="0"/>
          </a:p>
          <a:p>
            <a:pPr marL="342900" indent="-342900">
              <a:spcAft>
                <a:spcPts val="500"/>
              </a:spcAft>
              <a:buSzPct val="100000"/>
              <a:buChar char="•"/>
            </a:pPr>
            <a:r>
              <a:rPr lang="en-US" sz="1150" dirty="0">
                <a:solidFill>
                  <a:srgbClr val="1A2E1A"/>
                </a:solidFill>
                <a:latin typeface="Calibri" pitchFamily="34" charset="0"/>
                <a:ea typeface="Calibri" pitchFamily="34" charset="-122"/>
                <a:cs typeface="Calibri" pitchFamily="34" charset="-120"/>
              </a:rPr>
              <a:t>VISIT replaces </a:t>
            </a:r>
            <a:r>
              <a:rPr lang="en-US" sz="1200" dirty="0"/>
              <a:t>unstructured, improvised</a:t>
            </a:r>
            <a:r>
              <a:rPr lang="en-US" sz="1200" dirty="0" smtClean="0">
                <a:solidFill>
                  <a:srgbClr val="1A2E1A"/>
                </a:solidFill>
                <a:latin typeface="Calibri" pitchFamily="34" charset="0"/>
                <a:ea typeface="Calibri" pitchFamily="34" charset="-122"/>
                <a:cs typeface="Calibri" pitchFamily="34" charset="-120"/>
              </a:rPr>
              <a:t> </a:t>
            </a:r>
            <a:r>
              <a:rPr lang="en-US" sz="1150" dirty="0">
                <a:solidFill>
                  <a:srgbClr val="1A2E1A"/>
                </a:solidFill>
                <a:latin typeface="Calibri" pitchFamily="34" charset="0"/>
                <a:ea typeface="Calibri" pitchFamily="34" charset="-122"/>
                <a:cs typeface="Calibri" pitchFamily="34" charset="-120"/>
              </a:rPr>
              <a:t>session logs for field </a:t>
            </a:r>
            <a:r>
              <a:rPr lang="en-US" sz="1150" dirty="0" smtClean="0">
                <a:solidFill>
                  <a:srgbClr val="1A2E1A"/>
                </a:solidFill>
                <a:latin typeface="Calibri" pitchFamily="34" charset="0"/>
                <a:ea typeface="Calibri" pitchFamily="34" charset="-122"/>
                <a:cs typeface="Calibri" pitchFamily="34" charset="-120"/>
              </a:rPr>
              <a:t>visits.</a:t>
            </a:r>
            <a:endParaRPr lang="en-US" sz="1150" dirty="0"/>
          </a:p>
        </p:txBody>
      </p:sp>
      <p:sp>
        <p:nvSpPr>
          <p:cNvPr id="10" name="Shape 8"/>
          <p:cNvSpPr/>
          <p:nvPr/>
        </p:nvSpPr>
        <p:spPr>
          <a:xfrm>
            <a:off x="3200400" y="1325880"/>
            <a:ext cx="2651760" cy="3429000"/>
          </a:xfrm>
          <a:prstGeom prst="rect">
            <a:avLst/>
          </a:prstGeom>
          <a:solidFill>
            <a:srgbClr val="FFFFFF"/>
          </a:solidFill>
          <a:ln w="12700">
            <a:solidFill>
              <a:srgbClr val="D0E8B8"/>
            </a:solidFill>
            <a:prstDash val="solid"/>
          </a:ln>
          <a:effectLst>
            <a:outerShdw blurRad="63500" dist="25400" dir="8100000" algn="bl" rotWithShape="0">
              <a:srgbClr val="000000">
                <a:alpha val="8000"/>
              </a:srgbClr>
            </a:outerShdw>
          </a:effectLst>
        </p:spPr>
      </p:sp>
      <p:sp>
        <p:nvSpPr>
          <p:cNvPr id="11" name="Shape 9"/>
          <p:cNvSpPr/>
          <p:nvPr/>
        </p:nvSpPr>
        <p:spPr>
          <a:xfrm>
            <a:off x="3200400" y="1325880"/>
            <a:ext cx="2651760" cy="438912"/>
          </a:xfrm>
          <a:prstGeom prst="rect">
            <a:avLst/>
          </a:prstGeom>
          <a:solidFill>
            <a:srgbClr val="2C5F2D"/>
          </a:solidFill>
          <a:ln w="12700">
            <a:solidFill>
              <a:srgbClr val="2C5F2D"/>
            </a:solidFill>
            <a:prstDash val="solid"/>
          </a:ln>
        </p:spPr>
      </p:sp>
      <p:sp>
        <p:nvSpPr>
          <p:cNvPr id="12" name="Text 10"/>
          <p:cNvSpPr/>
          <p:nvPr/>
        </p:nvSpPr>
        <p:spPr>
          <a:xfrm>
            <a:off x="3310128" y="1371600"/>
            <a:ext cx="2432304" cy="384048"/>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Integrity Constraints</a:t>
            </a:r>
            <a:endParaRPr lang="en-US" sz="1250" dirty="0"/>
          </a:p>
        </p:txBody>
      </p:sp>
      <p:sp>
        <p:nvSpPr>
          <p:cNvPr id="13" name="Text 11"/>
          <p:cNvSpPr/>
          <p:nvPr/>
        </p:nvSpPr>
        <p:spPr>
          <a:xfrm>
            <a:off x="3310128" y="1874520"/>
            <a:ext cx="2432304" cy="2743200"/>
          </a:xfrm>
          <a:prstGeom prst="rect">
            <a:avLst/>
          </a:prstGeom>
          <a:noFill/>
          <a:ln/>
        </p:spPr>
        <p:txBody>
          <a:bodyPr wrap="square" rtlCol="0" anchor="t"/>
          <a:lstStyle/>
          <a:p>
            <a:pPr marL="342900" indent="-342900">
              <a:spcAft>
                <a:spcPts val="500"/>
              </a:spcAft>
              <a:buSzPct val="100000"/>
              <a:buChar char="•"/>
            </a:pPr>
            <a:r>
              <a:rPr lang="en-US" sz="1150" dirty="0">
                <a:solidFill>
                  <a:srgbClr val="1A2E1A"/>
                </a:solidFill>
                <a:latin typeface="Calibri" pitchFamily="34" charset="0"/>
                <a:ea typeface="Calibri" pitchFamily="34" charset="-122"/>
                <a:cs typeface="Calibri" pitchFamily="34" charset="-120"/>
              </a:rPr>
              <a:t>Primary Keys on every </a:t>
            </a:r>
            <a:r>
              <a:rPr lang="en-US" sz="1150" dirty="0" smtClean="0">
                <a:solidFill>
                  <a:srgbClr val="1A2E1A"/>
                </a:solidFill>
                <a:latin typeface="Calibri" pitchFamily="34" charset="0"/>
                <a:ea typeface="Calibri" pitchFamily="34" charset="-122"/>
                <a:cs typeface="Calibri" pitchFamily="34" charset="-120"/>
              </a:rPr>
              <a:t>table.</a:t>
            </a:r>
            <a:endParaRPr lang="en-US" sz="1150" dirty="0"/>
          </a:p>
          <a:p>
            <a:pPr marL="342900" indent="-342900">
              <a:spcAft>
                <a:spcPts val="500"/>
              </a:spcAft>
              <a:buSzPct val="100000"/>
              <a:buChar char="•"/>
            </a:pPr>
            <a:r>
              <a:rPr lang="en-US" sz="1150" dirty="0">
                <a:solidFill>
                  <a:srgbClr val="1A2E1A"/>
                </a:solidFill>
                <a:latin typeface="Calibri" pitchFamily="34" charset="0"/>
                <a:ea typeface="Calibri" pitchFamily="34" charset="-122"/>
                <a:cs typeface="Calibri" pitchFamily="34" charset="-120"/>
              </a:rPr>
              <a:t>Foreign Keys with CASCADE / SET NULL </a:t>
            </a:r>
            <a:r>
              <a:rPr lang="en-US" sz="1150" dirty="0" smtClean="0">
                <a:solidFill>
                  <a:srgbClr val="1A2E1A"/>
                </a:solidFill>
                <a:latin typeface="Calibri" pitchFamily="34" charset="0"/>
                <a:ea typeface="Calibri" pitchFamily="34" charset="-122"/>
                <a:cs typeface="Calibri" pitchFamily="34" charset="-120"/>
              </a:rPr>
              <a:t>rules.</a:t>
            </a:r>
            <a:endParaRPr lang="en-US" sz="1150" dirty="0"/>
          </a:p>
          <a:p>
            <a:pPr marL="342900" indent="-342900">
              <a:spcAft>
                <a:spcPts val="500"/>
              </a:spcAft>
              <a:buSzPct val="100000"/>
              <a:buChar char="•"/>
            </a:pPr>
            <a:r>
              <a:rPr lang="en-US" sz="1150" dirty="0">
                <a:solidFill>
                  <a:srgbClr val="1A2E1A"/>
                </a:solidFill>
                <a:latin typeface="Calibri" pitchFamily="34" charset="0"/>
                <a:ea typeface="Calibri" pitchFamily="34" charset="-122"/>
                <a:cs typeface="Calibri" pitchFamily="34" charset="-120"/>
              </a:rPr>
              <a:t>CHECK constraints: size_hectares &gt; 0, stock_quantity ≥ 0</a:t>
            </a:r>
            <a:endParaRPr lang="en-US" sz="1150" dirty="0"/>
          </a:p>
          <a:p>
            <a:pPr marL="342900" indent="-342900">
              <a:spcAft>
                <a:spcPts val="500"/>
              </a:spcAft>
              <a:buSzPct val="100000"/>
              <a:buChar char="•"/>
            </a:pPr>
            <a:r>
              <a:rPr lang="en-US" sz="1150" dirty="0">
                <a:solidFill>
                  <a:srgbClr val="1A2E1A"/>
                </a:solidFill>
                <a:latin typeface="Calibri" pitchFamily="34" charset="0"/>
                <a:ea typeface="Calibri" pitchFamily="34" charset="-122"/>
                <a:cs typeface="Calibri" pitchFamily="34" charset="-120"/>
              </a:rPr>
              <a:t>UNIQUE constraint on contact </a:t>
            </a:r>
            <a:r>
              <a:rPr lang="en-US" sz="1150" dirty="0" smtClean="0">
                <a:solidFill>
                  <a:srgbClr val="1A2E1A"/>
                </a:solidFill>
                <a:latin typeface="Calibri" pitchFamily="34" charset="0"/>
                <a:ea typeface="Calibri" pitchFamily="34" charset="-122"/>
                <a:cs typeface="Calibri" pitchFamily="34" charset="-120"/>
              </a:rPr>
              <a:t>number.</a:t>
            </a:r>
            <a:endParaRPr lang="en-US" sz="1150" dirty="0"/>
          </a:p>
          <a:p>
            <a:pPr marL="342900" indent="-342900">
              <a:spcAft>
                <a:spcPts val="500"/>
              </a:spcAft>
              <a:buSzPct val="100000"/>
              <a:buChar char="•"/>
            </a:pPr>
            <a:r>
              <a:rPr lang="en-US" sz="1150" dirty="0">
                <a:solidFill>
                  <a:srgbClr val="1A2E1A"/>
                </a:solidFill>
                <a:latin typeface="Calibri" pitchFamily="34" charset="0"/>
                <a:ea typeface="Calibri" pitchFamily="34" charset="-122"/>
                <a:cs typeface="Calibri" pitchFamily="34" charset="-120"/>
              </a:rPr>
              <a:t>NOT NULL on critical fields</a:t>
            </a:r>
            <a:endParaRPr lang="en-US" sz="1150" dirty="0"/>
          </a:p>
        </p:txBody>
      </p:sp>
      <p:sp>
        <p:nvSpPr>
          <p:cNvPr id="14" name="Shape 12"/>
          <p:cNvSpPr/>
          <p:nvPr/>
        </p:nvSpPr>
        <p:spPr>
          <a:xfrm>
            <a:off x="6035040" y="1325880"/>
            <a:ext cx="2651760" cy="3429000"/>
          </a:xfrm>
          <a:prstGeom prst="rect">
            <a:avLst/>
          </a:prstGeom>
          <a:solidFill>
            <a:srgbClr val="FFFFFF"/>
          </a:solidFill>
          <a:ln w="12700">
            <a:solidFill>
              <a:srgbClr val="D0E8B8"/>
            </a:solidFill>
            <a:prstDash val="solid"/>
          </a:ln>
          <a:effectLst>
            <a:outerShdw blurRad="63500" dist="25400" dir="8100000" algn="bl" rotWithShape="0">
              <a:srgbClr val="000000">
                <a:alpha val="8000"/>
              </a:srgbClr>
            </a:outerShdw>
          </a:effectLst>
        </p:spPr>
      </p:sp>
      <p:sp>
        <p:nvSpPr>
          <p:cNvPr id="15" name="Shape 13"/>
          <p:cNvSpPr/>
          <p:nvPr/>
        </p:nvSpPr>
        <p:spPr>
          <a:xfrm>
            <a:off x="6035040" y="1325880"/>
            <a:ext cx="2651760" cy="438912"/>
          </a:xfrm>
          <a:prstGeom prst="rect">
            <a:avLst/>
          </a:prstGeom>
          <a:solidFill>
            <a:srgbClr val="2C5F2D"/>
          </a:solidFill>
          <a:ln w="12700">
            <a:solidFill>
              <a:srgbClr val="2C5F2D"/>
            </a:solidFill>
            <a:prstDash val="solid"/>
          </a:ln>
        </p:spPr>
      </p:sp>
      <p:sp>
        <p:nvSpPr>
          <p:cNvPr id="16" name="Text 14"/>
          <p:cNvSpPr/>
          <p:nvPr/>
        </p:nvSpPr>
        <p:spPr>
          <a:xfrm>
            <a:off x="6144768" y="1371600"/>
            <a:ext cx="2432304" cy="384048"/>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Inheritance (Specialization)</a:t>
            </a:r>
            <a:endParaRPr lang="en-US" sz="1250" dirty="0"/>
          </a:p>
        </p:txBody>
      </p:sp>
      <p:sp>
        <p:nvSpPr>
          <p:cNvPr id="17" name="Text 15"/>
          <p:cNvSpPr/>
          <p:nvPr/>
        </p:nvSpPr>
        <p:spPr>
          <a:xfrm>
            <a:off x="6144768" y="1874520"/>
            <a:ext cx="2432304" cy="2743200"/>
          </a:xfrm>
          <a:prstGeom prst="rect">
            <a:avLst/>
          </a:prstGeom>
          <a:noFill/>
          <a:ln/>
        </p:spPr>
        <p:txBody>
          <a:bodyPr wrap="square" rtlCol="0" anchor="t"/>
          <a:lstStyle/>
          <a:p>
            <a:pPr marL="342900" indent="-342900">
              <a:spcAft>
                <a:spcPts val="500"/>
              </a:spcAft>
              <a:buSzPct val="100000"/>
              <a:buChar char="•"/>
            </a:pPr>
            <a:r>
              <a:rPr lang="en-US" sz="1150" dirty="0">
                <a:solidFill>
                  <a:srgbClr val="1A2E1A"/>
                </a:solidFill>
                <a:latin typeface="Calibri" pitchFamily="34" charset="0"/>
                <a:ea typeface="Calibri" pitchFamily="34" charset="-122"/>
                <a:cs typeface="Calibri" pitchFamily="34" charset="-120"/>
              </a:rPr>
              <a:t>PERSON is the supertype (person_id, f_name, l_name, contact, gender)</a:t>
            </a:r>
            <a:endParaRPr lang="en-US" sz="1150" dirty="0"/>
          </a:p>
          <a:p>
            <a:pPr marL="342900" indent="-342900">
              <a:spcAft>
                <a:spcPts val="500"/>
              </a:spcAft>
              <a:buSzPct val="100000"/>
              <a:buChar char="•"/>
            </a:pPr>
            <a:r>
              <a:rPr lang="en-US" sz="1150" dirty="0">
                <a:solidFill>
                  <a:srgbClr val="1A2E1A"/>
                </a:solidFill>
                <a:latin typeface="Calibri" pitchFamily="34" charset="0"/>
                <a:ea typeface="Calibri" pitchFamily="34" charset="-122"/>
                <a:cs typeface="Calibri" pitchFamily="34" charset="-120"/>
              </a:rPr>
              <a:t>Subtypes: FARMER, EXTENSION WORKER, MINISTRY OFFICIAL</a:t>
            </a:r>
            <a:endParaRPr lang="en-US" sz="1150" dirty="0"/>
          </a:p>
          <a:p>
            <a:pPr marL="342900" indent="-342900">
              <a:spcAft>
                <a:spcPts val="500"/>
              </a:spcAft>
              <a:buSzPct val="100000"/>
              <a:buChar char="•"/>
            </a:pPr>
            <a:r>
              <a:rPr lang="en-US" sz="1150" dirty="0">
                <a:solidFill>
                  <a:srgbClr val="1A2E1A"/>
                </a:solidFill>
                <a:latin typeface="Calibri" pitchFamily="34" charset="0"/>
                <a:ea typeface="Calibri" pitchFamily="34" charset="-122"/>
                <a:cs typeface="Calibri" pitchFamily="34" charset="-120"/>
              </a:rPr>
              <a:t>Subtype PKs reference PERSON via FK — avoids duplication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A2E1A"/>
        </a:solidFill>
        <a:effectLst/>
      </p:bgPr>
    </p:bg>
    <p:spTree>
      <p:nvGrpSpPr>
        <p:cNvPr id="1" name=""/>
        <p:cNvGrpSpPr/>
        <p:nvPr/>
      </p:nvGrpSpPr>
      <p:grpSpPr>
        <a:xfrm>
          <a:off x="0" y="0"/>
          <a:ext cx="0" cy="0"/>
          <a:chOff x="0" y="0"/>
          <a:chExt cx="0" cy="0"/>
        </a:xfrm>
      </p:grpSpPr>
      <p:sp>
        <p:nvSpPr>
          <p:cNvPr id="2" name="Shape 0"/>
          <p:cNvSpPr/>
          <p:nvPr/>
        </p:nvSpPr>
        <p:spPr>
          <a:xfrm>
            <a:off x="457200" y="502920"/>
            <a:ext cx="64008" cy="594360"/>
          </a:xfrm>
          <a:prstGeom prst="rect">
            <a:avLst/>
          </a:prstGeom>
          <a:solidFill>
            <a:srgbClr val="6AAB3A"/>
          </a:solidFill>
          <a:ln w="12700">
            <a:solidFill>
              <a:srgbClr val="6AAB3A"/>
            </a:solidFill>
            <a:prstDash val="solid"/>
          </a:ln>
        </p:spPr>
      </p:sp>
      <p:sp>
        <p:nvSpPr>
          <p:cNvPr id="3" name="Text 1"/>
          <p:cNvSpPr/>
          <p:nvPr/>
        </p:nvSpPr>
        <p:spPr>
          <a:xfrm>
            <a:off x="612648" y="457200"/>
            <a:ext cx="8046720" cy="6858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4. Security &amp; Role-Based Access Control</a:t>
            </a:r>
            <a:endParaRPr lang="en-US" sz="2800" dirty="0"/>
          </a:p>
        </p:txBody>
      </p:sp>
      <p:sp>
        <p:nvSpPr>
          <p:cNvPr id="4" name="Shape 2"/>
          <p:cNvSpPr/>
          <p:nvPr/>
        </p:nvSpPr>
        <p:spPr>
          <a:xfrm>
            <a:off x="457200" y="1170432"/>
            <a:ext cx="8229600" cy="0"/>
          </a:xfrm>
          <a:prstGeom prst="line">
            <a:avLst/>
          </a:prstGeom>
          <a:noFill/>
          <a:ln w="15240">
            <a:solidFill>
              <a:srgbClr val="8FAF72"/>
            </a:solidFill>
            <a:prstDash val="solid"/>
          </a:ln>
        </p:spPr>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8FAF72"/>
                </a:solidFill>
                <a:latin typeface="Calibri" pitchFamily="34" charset="0"/>
                <a:ea typeface="Calibri" pitchFamily="34" charset="-122"/>
                <a:cs typeface="Calibri" pitchFamily="34" charset="-120"/>
              </a:rPr>
              <a:t>6 / 10</a:t>
            </a:r>
            <a:endParaRPr lang="en-US" sz="900" dirty="0"/>
          </a:p>
        </p:txBody>
      </p:sp>
      <p:sp>
        <p:nvSpPr>
          <p:cNvPr id="6" name="Shape 4"/>
          <p:cNvSpPr/>
          <p:nvPr/>
        </p:nvSpPr>
        <p:spPr>
          <a:xfrm>
            <a:off x="365760" y="1325880"/>
            <a:ext cx="2651760" cy="3383280"/>
          </a:xfrm>
          <a:prstGeom prst="rect">
            <a:avLst/>
          </a:prstGeom>
          <a:solidFill>
            <a:srgbClr val="22401A"/>
          </a:solidFill>
          <a:ln w="12700">
            <a:solidFill>
              <a:srgbClr val="2C5F2D"/>
            </a:solidFill>
            <a:prstDash val="solid"/>
          </a:ln>
        </p:spPr>
      </p:sp>
      <p:sp>
        <p:nvSpPr>
          <p:cNvPr id="7" name="Shape 5"/>
          <p:cNvSpPr/>
          <p:nvPr/>
        </p:nvSpPr>
        <p:spPr>
          <a:xfrm>
            <a:off x="365760" y="1325880"/>
            <a:ext cx="2651760" cy="475488"/>
          </a:xfrm>
          <a:prstGeom prst="rect">
            <a:avLst/>
          </a:prstGeom>
          <a:solidFill>
            <a:srgbClr val="6AAB3A"/>
          </a:solidFill>
          <a:ln w="12700">
            <a:solidFill>
              <a:srgbClr val="6AAB3A"/>
            </a:solidFill>
            <a:prstDash val="solid"/>
          </a:ln>
        </p:spPr>
      </p:sp>
      <p:sp>
        <p:nvSpPr>
          <p:cNvPr id="8" name="Text 6"/>
          <p:cNvSpPr/>
          <p:nvPr/>
        </p:nvSpPr>
        <p:spPr>
          <a:xfrm>
            <a:off x="475488" y="1353312"/>
            <a:ext cx="2432304" cy="411480"/>
          </a:xfrm>
          <a:prstGeom prst="rect">
            <a:avLst/>
          </a:prstGeom>
          <a:noFill/>
          <a:ln/>
        </p:spPr>
        <p:txBody>
          <a:bodyPr wrap="square" lIns="0" tIns="0" rIns="0" bIns="0" rtlCol="0" anchor="ctr"/>
          <a:lstStyle/>
          <a:p>
            <a:pPr marL="0" indent="0">
              <a:buNone/>
            </a:pPr>
            <a:r>
              <a:rPr lang="en-US" sz="1300" b="1" dirty="0">
                <a:solidFill>
                  <a:srgbClr val="1A2E1A"/>
                </a:solidFill>
                <a:latin typeface="Consolas" pitchFamily="34" charset="0"/>
                <a:ea typeface="Consolas" pitchFamily="34" charset="-122"/>
                <a:cs typeface="Consolas" pitchFamily="34" charset="-120"/>
              </a:rPr>
              <a:t>db_admin</a:t>
            </a:r>
            <a:endParaRPr lang="en-US" sz="1300" dirty="0"/>
          </a:p>
        </p:txBody>
      </p:sp>
      <p:sp>
        <p:nvSpPr>
          <p:cNvPr id="9" name="Text 7"/>
          <p:cNvSpPr/>
          <p:nvPr/>
        </p:nvSpPr>
        <p:spPr>
          <a:xfrm>
            <a:off x="475488" y="1874520"/>
            <a:ext cx="2432304" cy="320040"/>
          </a:xfrm>
          <a:prstGeom prst="rect">
            <a:avLst/>
          </a:prstGeom>
          <a:noFill/>
          <a:ln/>
        </p:spPr>
        <p:txBody>
          <a:bodyPr wrap="square" lIns="0" tIns="0" rIns="0" bIns="0" rtlCol="0" anchor="ctr"/>
          <a:lstStyle/>
          <a:p>
            <a:pPr marL="0" indent="0">
              <a:buNone/>
            </a:pPr>
            <a:r>
              <a:rPr lang="en-US" sz="1100" i="1" dirty="0">
                <a:solidFill>
                  <a:srgbClr val="8FAF72"/>
                </a:solidFill>
                <a:latin typeface="Calibri" pitchFamily="34" charset="0"/>
                <a:ea typeface="Calibri" pitchFamily="34" charset="-122"/>
                <a:cs typeface="Calibri" pitchFamily="34" charset="-120"/>
              </a:rPr>
              <a:t>Superuser</a:t>
            </a:r>
            <a:endParaRPr lang="en-US" sz="1100" dirty="0"/>
          </a:p>
        </p:txBody>
      </p:sp>
      <p:sp>
        <p:nvSpPr>
          <p:cNvPr id="10" name="Text 8"/>
          <p:cNvSpPr/>
          <p:nvPr/>
        </p:nvSpPr>
        <p:spPr>
          <a:xfrm>
            <a:off x="475488" y="2240280"/>
            <a:ext cx="2432304" cy="2331720"/>
          </a:xfrm>
          <a:prstGeom prst="rect">
            <a:avLst/>
          </a:prstGeom>
          <a:noFill/>
          <a:ln/>
        </p:spPr>
        <p:txBody>
          <a:bodyPr wrap="square" rtlCol="0" anchor="t"/>
          <a:lstStyle/>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Full DDL &amp; DML on all tables</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Create/drop users &amp; roles</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Manage backups &amp; binary logs</a:t>
            </a:r>
            <a:endParaRPr lang="en-US" sz="1150" dirty="0"/>
          </a:p>
        </p:txBody>
      </p:sp>
      <p:sp>
        <p:nvSpPr>
          <p:cNvPr id="11" name="Shape 9"/>
          <p:cNvSpPr/>
          <p:nvPr/>
        </p:nvSpPr>
        <p:spPr>
          <a:xfrm>
            <a:off x="3200400" y="1325880"/>
            <a:ext cx="2651760" cy="3383280"/>
          </a:xfrm>
          <a:prstGeom prst="rect">
            <a:avLst/>
          </a:prstGeom>
          <a:solidFill>
            <a:srgbClr val="22401A"/>
          </a:solidFill>
          <a:ln w="12700">
            <a:solidFill>
              <a:srgbClr val="2C5F2D"/>
            </a:solidFill>
            <a:prstDash val="solid"/>
          </a:ln>
        </p:spPr>
      </p:sp>
      <p:sp>
        <p:nvSpPr>
          <p:cNvPr id="12" name="Shape 10"/>
          <p:cNvSpPr/>
          <p:nvPr/>
        </p:nvSpPr>
        <p:spPr>
          <a:xfrm>
            <a:off x="3200400" y="1325880"/>
            <a:ext cx="2651760" cy="475488"/>
          </a:xfrm>
          <a:prstGeom prst="rect">
            <a:avLst/>
          </a:prstGeom>
          <a:solidFill>
            <a:srgbClr val="6AAB3A"/>
          </a:solidFill>
          <a:ln w="12700">
            <a:solidFill>
              <a:srgbClr val="6AAB3A"/>
            </a:solidFill>
            <a:prstDash val="solid"/>
          </a:ln>
        </p:spPr>
      </p:sp>
      <p:sp>
        <p:nvSpPr>
          <p:cNvPr id="13" name="Text 11"/>
          <p:cNvSpPr/>
          <p:nvPr/>
        </p:nvSpPr>
        <p:spPr>
          <a:xfrm>
            <a:off x="3310128" y="1353312"/>
            <a:ext cx="2432304" cy="411480"/>
          </a:xfrm>
          <a:prstGeom prst="rect">
            <a:avLst/>
          </a:prstGeom>
          <a:noFill/>
          <a:ln/>
        </p:spPr>
        <p:txBody>
          <a:bodyPr wrap="square" lIns="0" tIns="0" rIns="0" bIns="0" rtlCol="0" anchor="ctr"/>
          <a:lstStyle/>
          <a:p>
            <a:pPr marL="0" indent="0">
              <a:buNone/>
            </a:pPr>
            <a:r>
              <a:rPr lang="en-US" sz="1300" b="1" dirty="0">
                <a:solidFill>
                  <a:srgbClr val="1A2E1A"/>
                </a:solidFill>
                <a:latin typeface="Consolas" pitchFamily="34" charset="0"/>
                <a:ea typeface="Consolas" pitchFamily="34" charset="-122"/>
                <a:cs typeface="Consolas" pitchFamily="34" charset="-120"/>
              </a:rPr>
              <a:t>ministry_official</a:t>
            </a:r>
            <a:endParaRPr lang="en-US" sz="1300" dirty="0"/>
          </a:p>
        </p:txBody>
      </p:sp>
      <p:sp>
        <p:nvSpPr>
          <p:cNvPr id="14" name="Text 12"/>
          <p:cNvSpPr/>
          <p:nvPr/>
        </p:nvSpPr>
        <p:spPr>
          <a:xfrm>
            <a:off x="3310128" y="1874520"/>
            <a:ext cx="2432304" cy="320040"/>
          </a:xfrm>
          <a:prstGeom prst="rect">
            <a:avLst/>
          </a:prstGeom>
          <a:noFill/>
          <a:ln/>
        </p:spPr>
        <p:txBody>
          <a:bodyPr wrap="square" lIns="0" tIns="0" rIns="0" bIns="0" rtlCol="0" anchor="ctr"/>
          <a:lstStyle/>
          <a:p>
            <a:pPr marL="0" indent="0">
              <a:buNone/>
            </a:pPr>
            <a:r>
              <a:rPr lang="en-US" sz="1100" i="1" dirty="0">
                <a:solidFill>
                  <a:srgbClr val="8FAF72"/>
                </a:solidFill>
                <a:latin typeface="Calibri" pitchFamily="34" charset="0"/>
                <a:ea typeface="Calibri" pitchFamily="34" charset="-122"/>
                <a:cs typeface="Calibri" pitchFamily="34" charset="-120"/>
              </a:rPr>
              <a:t>Operations &amp; Logistics</a:t>
            </a:r>
            <a:endParaRPr lang="en-US" sz="1100" dirty="0"/>
          </a:p>
        </p:txBody>
      </p:sp>
      <p:sp>
        <p:nvSpPr>
          <p:cNvPr id="15" name="Text 13"/>
          <p:cNvSpPr/>
          <p:nvPr/>
        </p:nvSpPr>
        <p:spPr>
          <a:xfrm>
            <a:off x="3310128" y="2240280"/>
            <a:ext cx="2432304" cy="2331720"/>
          </a:xfrm>
          <a:prstGeom prst="rect">
            <a:avLst/>
          </a:prstGeom>
          <a:noFill/>
          <a:ln/>
        </p:spPr>
        <p:txBody>
          <a:bodyPr wrap="square" rtlCol="0" anchor="t"/>
          <a:lstStyle/>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INSERT / UPDATE on distributions</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SELECT on resources &amp; farms</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Approve resource handovers</a:t>
            </a:r>
            <a:endParaRPr lang="en-US" sz="1150" dirty="0"/>
          </a:p>
        </p:txBody>
      </p:sp>
      <p:sp>
        <p:nvSpPr>
          <p:cNvPr id="16" name="Shape 14"/>
          <p:cNvSpPr/>
          <p:nvPr/>
        </p:nvSpPr>
        <p:spPr>
          <a:xfrm>
            <a:off x="6035040" y="1325880"/>
            <a:ext cx="2651760" cy="3383280"/>
          </a:xfrm>
          <a:prstGeom prst="rect">
            <a:avLst/>
          </a:prstGeom>
          <a:solidFill>
            <a:srgbClr val="22401A"/>
          </a:solidFill>
          <a:ln w="12700">
            <a:solidFill>
              <a:srgbClr val="2C5F2D"/>
            </a:solidFill>
            <a:prstDash val="solid"/>
          </a:ln>
        </p:spPr>
      </p:sp>
      <p:sp>
        <p:nvSpPr>
          <p:cNvPr id="17" name="Shape 15"/>
          <p:cNvSpPr/>
          <p:nvPr/>
        </p:nvSpPr>
        <p:spPr>
          <a:xfrm>
            <a:off x="6035040" y="1325880"/>
            <a:ext cx="2651760" cy="475488"/>
          </a:xfrm>
          <a:prstGeom prst="rect">
            <a:avLst/>
          </a:prstGeom>
          <a:solidFill>
            <a:srgbClr val="6AAB3A"/>
          </a:solidFill>
          <a:ln w="12700">
            <a:solidFill>
              <a:srgbClr val="6AAB3A"/>
            </a:solidFill>
            <a:prstDash val="solid"/>
          </a:ln>
        </p:spPr>
      </p:sp>
      <p:sp>
        <p:nvSpPr>
          <p:cNvPr id="18" name="Text 16"/>
          <p:cNvSpPr/>
          <p:nvPr/>
        </p:nvSpPr>
        <p:spPr>
          <a:xfrm>
            <a:off x="6144768" y="1353312"/>
            <a:ext cx="2432304" cy="411480"/>
          </a:xfrm>
          <a:prstGeom prst="rect">
            <a:avLst/>
          </a:prstGeom>
          <a:noFill/>
          <a:ln/>
        </p:spPr>
        <p:txBody>
          <a:bodyPr wrap="square" lIns="0" tIns="0" rIns="0" bIns="0" rtlCol="0" anchor="ctr"/>
          <a:lstStyle/>
          <a:p>
            <a:pPr marL="0" indent="0">
              <a:buNone/>
            </a:pPr>
            <a:r>
              <a:rPr lang="en-US" sz="1300" b="1" dirty="0">
                <a:solidFill>
                  <a:srgbClr val="1A2E1A"/>
                </a:solidFill>
                <a:latin typeface="Consolas" pitchFamily="34" charset="0"/>
                <a:ea typeface="Consolas" pitchFamily="34" charset="-122"/>
                <a:cs typeface="Consolas" pitchFamily="34" charset="-120"/>
              </a:rPr>
              <a:t>extension_worker</a:t>
            </a:r>
            <a:endParaRPr lang="en-US" sz="1300" dirty="0"/>
          </a:p>
        </p:txBody>
      </p:sp>
      <p:sp>
        <p:nvSpPr>
          <p:cNvPr id="19" name="Text 17"/>
          <p:cNvSpPr/>
          <p:nvPr/>
        </p:nvSpPr>
        <p:spPr>
          <a:xfrm>
            <a:off x="6144768" y="1874520"/>
            <a:ext cx="2432304" cy="320040"/>
          </a:xfrm>
          <a:prstGeom prst="rect">
            <a:avLst/>
          </a:prstGeom>
          <a:noFill/>
          <a:ln/>
        </p:spPr>
        <p:txBody>
          <a:bodyPr wrap="square" lIns="0" tIns="0" rIns="0" bIns="0" rtlCol="0" anchor="ctr"/>
          <a:lstStyle/>
          <a:p>
            <a:pPr marL="0" indent="0">
              <a:buNone/>
            </a:pPr>
            <a:r>
              <a:rPr lang="en-US" sz="1100" i="1" dirty="0">
                <a:solidFill>
                  <a:srgbClr val="8FAF72"/>
                </a:solidFill>
                <a:latin typeface="Calibri" pitchFamily="34" charset="0"/>
                <a:ea typeface="Calibri" pitchFamily="34" charset="-122"/>
                <a:cs typeface="Calibri" pitchFamily="34" charset="-120"/>
              </a:rPr>
              <a:t>Field Reporting</a:t>
            </a:r>
            <a:endParaRPr lang="en-US" sz="1100" dirty="0"/>
          </a:p>
        </p:txBody>
      </p:sp>
      <p:sp>
        <p:nvSpPr>
          <p:cNvPr id="20" name="Text 18"/>
          <p:cNvSpPr/>
          <p:nvPr/>
        </p:nvSpPr>
        <p:spPr>
          <a:xfrm>
            <a:off x="6144768" y="2240280"/>
            <a:ext cx="2432304" cy="2331720"/>
          </a:xfrm>
          <a:prstGeom prst="rect">
            <a:avLst/>
          </a:prstGeom>
          <a:noFill/>
          <a:ln/>
        </p:spPr>
        <p:txBody>
          <a:bodyPr wrap="square" rtlCol="0" anchor="t"/>
          <a:lstStyle/>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INSERT into advice_sessions</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SELECT on farms &amp; farmers</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View vw_farm_inventory</a:t>
            </a:r>
            <a:endParaRPr lang="en-US" sz="1150" dirty="0"/>
          </a:p>
        </p:txBody>
      </p:sp>
      <p:sp>
        <p:nvSpPr>
          <p:cNvPr id="21" name="Shape 19"/>
          <p:cNvSpPr/>
          <p:nvPr/>
        </p:nvSpPr>
        <p:spPr>
          <a:xfrm>
            <a:off x="365760" y="4663440"/>
            <a:ext cx="8412480" cy="320040"/>
          </a:xfrm>
          <a:prstGeom prst="rect">
            <a:avLst/>
          </a:prstGeom>
          <a:solidFill>
            <a:srgbClr val="22401A"/>
          </a:solidFill>
          <a:ln w="12700">
            <a:solidFill>
              <a:srgbClr val="2C5F2D"/>
            </a:solidFill>
            <a:prstDash val="solid"/>
          </a:ln>
        </p:spPr>
      </p:sp>
      <p:sp>
        <p:nvSpPr>
          <p:cNvPr id="22" name="Text 20"/>
          <p:cNvSpPr/>
          <p:nvPr/>
        </p:nvSpPr>
        <p:spPr>
          <a:xfrm>
            <a:off x="502920" y="4681728"/>
            <a:ext cx="8229600" cy="274320"/>
          </a:xfrm>
          <a:prstGeom prst="rect">
            <a:avLst/>
          </a:prstGeom>
          <a:noFill/>
          <a:ln/>
        </p:spPr>
        <p:txBody>
          <a:bodyPr wrap="square" rtlCol="0" anchor="ctr"/>
          <a:lstStyle/>
          <a:p>
            <a:pPr marL="0" indent="0">
              <a:buNone/>
            </a:pPr>
            <a:r>
              <a:rPr lang="en-US" sz="1100" b="1" dirty="0">
                <a:solidFill>
                  <a:srgbClr val="8FAF72"/>
                </a:solidFill>
                <a:latin typeface="Calibri" pitchFamily="34" charset="0"/>
                <a:ea typeface="Calibri" pitchFamily="34" charset="-122"/>
                <a:cs typeface="Calibri" pitchFamily="34" charset="-120"/>
              </a:rPr>
              <a:t>View: </a:t>
            </a:r>
            <a:r>
              <a:rPr lang="en-US" sz="1100" dirty="0">
                <a:solidFill>
                  <a:srgbClr val="8FAF72"/>
                </a:solidFill>
                <a:latin typeface="Consolas" pitchFamily="34" charset="0"/>
                <a:ea typeface="Consolas" pitchFamily="34" charset="-122"/>
                <a:cs typeface="Consolas" pitchFamily="34" charset="-120"/>
              </a:rPr>
              <a:t>vw_farm_inventory</a:t>
            </a:r>
            <a:r>
              <a:rPr lang="en-US" sz="1100" dirty="0">
                <a:solidFill>
                  <a:srgbClr val="8FAF72"/>
                </a:solidFill>
                <a:latin typeface="Calibri" pitchFamily="34" charset="0"/>
                <a:ea typeface="Calibri" pitchFamily="34" charset="-122"/>
                <a:cs typeface="Calibri" pitchFamily="34" charset="-120"/>
              </a:rPr>
              <a:t>  —  Hides complex joins; exposes only role-relevant columns to non-technical users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4F7F0"/>
        </a:solidFill>
        <a:effectLst/>
      </p:bgPr>
    </p:bg>
    <p:spTree>
      <p:nvGrpSpPr>
        <p:cNvPr id="1" name=""/>
        <p:cNvGrpSpPr/>
        <p:nvPr/>
      </p:nvGrpSpPr>
      <p:grpSpPr>
        <a:xfrm>
          <a:off x="0" y="0"/>
          <a:ext cx="0" cy="0"/>
          <a:chOff x="0" y="0"/>
          <a:chExt cx="0" cy="0"/>
        </a:xfrm>
      </p:grpSpPr>
      <p:sp>
        <p:nvSpPr>
          <p:cNvPr id="2" name="Shape 0"/>
          <p:cNvSpPr/>
          <p:nvPr/>
        </p:nvSpPr>
        <p:spPr>
          <a:xfrm>
            <a:off x="457200" y="502920"/>
            <a:ext cx="64008" cy="594360"/>
          </a:xfrm>
          <a:prstGeom prst="rect">
            <a:avLst/>
          </a:prstGeom>
          <a:solidFill>
            <a:srgbClr val="6AAB3A"/>
          </a:solidFill>
          <a:ln w="12700">
            <a:solidFill>
              <a:srgbClr val="6AAB3A"/>
            </a:solidFill>
            <a:prstDash val="solid"/>
          </a:ln>
        </p:spPr>
      </p:sp>
      <p:sp>
        <p:nvSpPr>
          <p:cNvPr id="3" name="Text 1"/>
          <p:cNvSpPr/>
          <p:nvPr/>
        </p:nvSpPr>
        <p:spPr>
          <a:xfrm>
            <a:off x="612648" y="457200"/>
            <a:ext cx="8046720" cy="685800"/>
          </a:xfrm>
          <a:prstGeom prst="rect">
            <a:avLst/>
          </a:prstGeom>
          <a:noFill/>
          <a:ln/>
        </p:spPr>
        <p:txBody>
          <a:bodyPr wrap="square" lIns="0" tIns="0" rIns="0" bIns="0" rtlCol="0" anchor="ctr"/>
          <a:lstStyle/>
          <a:p>
            <a:pPr marL="0" indent="0">
              <a:buNone/>
            </a:pPr>
            <a:r>
              <a:rPr lang="en-US" sz="2800" b="1" dirty="0">
                <a:solidFill>
                  <a:srgbClr val="1A2E1A"/>
                </a:solidFill>
                <a:latin typeface="Trebuchet MS" pitchFamily="34" charset="0"/>
                <a:ea typeface="Trebuchet MS" pitchFamily="34" charset="-122"/>
                <a:cs typeface="Trebuchet MS" pitchFamily="34" charset="-120"/>
              </a:rPr>
              <a:t>5. Automation: Triggers &amp; Procedures</a:t>
            </a:r>
            <a:endParaRPr lang="en-US" sz="2800" dirty="0"/>
          </a:p>
        </p:txBody>
      </p:sp>
      <p:sp>
        <p:nvSpPr>
          <p:cNvPr id="4" name="Shape 2"/>
          <p:cNvSpPr/>
          <p:nvPr/>
        </p:nvSpPr>
        <p:spPr>
          <a:xfrm>
            <a:off x="457200" y="1170432"/>
            <a:ext cx="8229600" cy="0"/>
          </a:xfrm>
          <a:prstGeom prst="line">
            <a:avLst/>
          </a:prstGeom>
          <a:noFill/>
          <a:ln w="15240">
            <a:solidFill>
              <a:srgbClr val="6AAB3A"/>
            </a:solidFill>
            <a:prstDash val="solid"/>
          </a:ln>
        </p:spPr>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4A6741"/>
                </a:solidFill>
                <a:latin typeface="Calibri" pitchFamily="34" charset="0"/>
                <a:ea typeface="Calibri" pitchFamily="34" charset="-122"/>
                <a:cs typeface="Calibri" pitchFamily="34" charset="-120"/>
              </a:rPr>
              <a:t>7 / 10</a:t>
            </a:r>
            <a:endParaRPr lang="en-US" sz="900" dirty="0"/>
          </a:p>
        </p:txBody>
      </p:sp>
      <p:sp>
        <p:nvSpPr>
          <p:cNvPr id="6" name="Shape 4"/>
          <p:cNvSpPr/>
          <p:nvPr/>
        </p:nvSpPr>
        <p:spPr>
          <a:xfrm>
            <a:off x="365760" y="1325880"/>
            <a:ext cx="4023360" cy="3474720"/>
          </a:xfrm>
          <a:prstGeom prst="rect">
            <a:avLst/>
          </a:prstGeom>
          <a:solidFill>
            <a:srgbClr val="FFFFFF"/>
          </a:solidFill>
          <a:ln w="12700">
            <a:solidFill>
              <a:srgbClr val="D0E8B8"/>
            </a:solidFill>
            <a:prstDash val="solid"/>
          </a:ln>
          <a:effectLst>
            <a:outerShdw blurRad="63500" dist="25400" dir="8100000" algn="bl" rotWithShape="0">
              <a:srgbClr val="000000">
                <a:alpha val="8000"/>
              </a:srgbClr>
            </a:outerShdw>
          </a:effectLst>
        </p:spPr>
      </p:sp>
      <p:sp>
        <p:nvSpPr>
          <p:cNvPr id="7" name="Shape 5"/>
          <p:cNvSpPr/>
          <p:nvPr/>
        </p:nvSpPr>
        <p:spPr>
          <a:xfrm>
            <a:off x="365760" y="1325880"/>
            <a:ext cx="4023360" cy="438912"/>
          </a:xfrm>
          <a:prstGeom prst="rect">
            <a:avLst/>
          </a:prstGeom>
          <a:solidFill>
            <a:srgbClr val="2C5F2D"/>
          </a:solidFill>
          <a:ln w="12700">
            <a:solidFill>
              <a:srgbClr val="2C5F2D"/>
            </a:solidFill>
            <a:prstDash val="solid"/>
          </a:ln>
        </p:spPr>
      </p:sp>
      <p:sp>
        <p:nvSpPr>
          <p:cNvPr id="8" name="Text 6"/>
          <p:cNvSpPr/>
          <p:nvPr/>
        </p:nvSpPr>
        <p:spPr>
          <a:xfrm>
            <a:off x="502920" y="1362456"/>
            <a:ext cx="3749040" cy="365760"/>
          </a:xfrm>
          <a:prstGeom prst="rect">
            <a:avLst/>
          </a:prstGeom>
          <a:noFill/>
          <a:ln/>
        </p:spPr>
        <p:txBody>
          <a:bodyPr wrap="square" lIns="0" tIns="0" rIns="0" bIns="0" rtlCol="0" anchor="ctr"/>
          <a:lstStyle/>
          <a:p>
            <a:pPr marL="0" indent="0">
              <a:buNone/>
            </a:pPr>
            <a:r>
              <a:rPr lang="en-US" sz="1200" b="1" dirty="0">
                <a:solidFill>
                  <a:srgbClr val="FFFFFF"/>
                </a:solidFill>
                <a:latin typeface="Consolas" pitchFamily="34" charset="0"/>
                <a:ea typeface="Consolas" pitchFamily="34" charset="-122"/>
                <a:cs typeface="Consolas" pitchFamily="34" charset="-120"/>
              </a:rPr>
              <a:t>TRIGGER:  tr_UpdateResourceStock</a:t>
            </a:r>
            <a:endParaRPr lang="en-US" sz="1200" dirty="0"/>
          </a:p>
        </p:txBody>
      </p:sp>
      <p:sp>
        <p:nvSpPr>
          <p:cNvPr id="9" name="Text 7"/>
          <p:cNvSpPr/>
          <p:nvPr/>
        </p:nvSpPr>
        <p:spPr>
          <a:xfrm>
            <a:off x="502920" y="1874520"/>
            <a:ext cx="3749040" cy="2697480"/>
          </a:xfrm>
          <a:prstGeom prst="rect">
            <a:avLst/>
          </a:prstGeom>
          <a:noFill/>
          <a:ln/>
        </p:spPr>
        <p:txBody>
          <a:bodyPr wrap="square" rtlCol="0" anchor="t"/>
          <a:lstStyle/>
          <a:p>
            <a:pPr marL="0" indent="0">
              <a:buNone/>
            </a:pPr>
            <a:r>
              <a:rPr lang="en-US" sz="1200" b="1" dirty="0">
                <a:solidFill>
                  <a:srgbClr val="1A2E1A"/>
                </a:solidFill>
                <a:latin typeface="Calibri" pitchFamily="34" charset="0"/>
                <a:ea typeface="Calibri" pitchFamily="34" charset="-122"/>
                <a:cs typeface="Calibri" pitchFamily="34" charset="-120"/>
              </a:rPr>
              <a:t>Fires:  </a:t>
            </a:r>
            <a:r>
              <a:rPr lang="en-US" sz="1200" dirty="0">
                <a:solidFill>
                  <a:srgbClr val="1A2E1A"/>
                </a:solidFill>
                <a:latin typeface="Calibri" pitchFamily="34" charset="0"/>
                <a:ea typeface="Calibri" pitchFamily="34" charset="-122"/>
                <a:cs typeface="Calibri" pitchFamily="34" charset="-120"/>
              </a:rPr>
              <a:t>AFTER INSERT on distributions</a:t>
            </a:r>
            <a:endParaRPr lang="en-US" sz="1200" dirty="0"/>
          </a:p>
          <a:p>
            <a:pPr marL="0" indent="0">
              <a:buNone/>
            </a:pPr>
            <a:r>
              <a:rPr lang="en-US" sz="1200" b="1" dirty="0">
                <a:solidFill>
                  <a:srgbClr val="1A2E1A"/>
                </a:solidFill>
                <a:latin typeface="Calibri" pitchFamily="34" charset="0"/>
                <a:ea typeface="Calibri" pitchFamily="34" charset="-122"/>
                <a:cs typeface="Calibri" pitchFamily="34" charset="-120"/>
              </a:rPr>
              <a:t>Action: </a:t>
            </a:r>
            <a:endParaRPr lang="en-US" sz="1200" dirty="0"/>
          </a:p>
          <a:p>
            <a:pPr marL="0" indent="0">
              <a:buNone/>
            </a:pPr>
            <a:r>
              <a:rPr lang="en-US" sz="1200" dirty="0">
                <a:solidFill>
                  <a:srgbClr val="1A2E1A"/>
                </a:solidFill>
                <a:latin typeface="Calibri" pitchFamily="34" charset="0"/>
                <a:ea typeface="Calibri" pitchFamily="34" charset="-122"/>
                <a:cs typeface="Calibri" pitchFamily="34" charset="-120"/>
              </a:rPr>
              <a:t>Automatically decrements stock_quantity in the resources table</a:t>
            </a:r>
            <a:endParaRPr lang="en-US" sz="1200" dirty="0"/>
          </a:p>
          <a:p>
            <a:pPr marL="0" indent="0">
              <a:buNone/>
            </a:pPr>
            <a:r>
              <a:rPr lang="en-US" sz="1200" b="1" dirty="0">
                <a:solidFill>
                  <a:srgbClr val="1A2E1A"/>
                </a:solidFill>
                <a:latin typeface="Calibri" pitchFamily="34" charset="0"/>
                <a:ea typeface="Calibri" pitchFamily="34" charset="-122"/>
                <a:cs typeface="Calibri" pitchFamily="34" charset="-120"/>
              </a:rPr>
              <a:t>Guard:  </a:t>
            </a:r>
            <a:endParaRPr lang="en-US" sz="1200" dirty="0"/>
          </a:p>
          <a:p>
            <a:pPr marL="0" indent="0">
              <a:buNone/>
            </a:pPr>
            <a:r>
              <a:rPr lang="en-US" sz="1200" dirty="0">
                <a:solidFill>
                  <a:srgbClr val="1A2E1A"/>
                </a:solidFill>
                <a:latin typeface="Calibri" pitchFamily="34" charset="0"/>
                <a:ea typeface="Calibri" pitchFamily="34" charset="-122"/>
                <a:cs typeface="Calibri" pitchFamily="34" charset="-120"/>
              </a:rPr>
              <a:t>Raises error if distribution quantity exceeds available stock</a:t>
            </a:r>
            <a:endParaRPr lang="en-US" sz="1200" dirty="0"/>
          </a:p>
          <a:p>
            <a:pPr marL="0" indent="0">
              <a:buNone/>
            </a:pPr>
            <a:r>
              <a:rPr lang="en-US" sz="1200" b="1" dirty="0">
                <a:solidFill>
                  <a:srgbClr val="1A2E1A"/>
                </a:solidFill>
                <a:latin typeface="Calibri" pitchFamily="34" charset="0"/>
                <a:ea typeface="Calibri" pitchFamily="34" charset="-122"/>
                <a:cs typeface="Calibri" pitchFamily="34" charset="-120"/>
              </a:rPr>
              <a:t>Benefit:</a:t>
            </a:r>
            <a:endParaRPr lang="en-US" sz="1200" dirty="0"/>
          </a:p>
          <a:p>
            <a:pPr marL="0" indent="0">
              <a:buNone/>
            </a:pPr>
            <a:r>
              <a:rPr lang="en-US" sz="1200" dirty="0">
                <a:solidFill>
                  <a:srgbClr val="1A2E1A"/>
                </a:solidFill>
                <a:latin typeface="Calibri" pitchFamily="34" charset="0"/>
                <a:ea typeface="Calibri" pitchFamily="34" charset="-122"/>
                <a:cs typeface="Calibri" pitchFamily="34" charset="-120"/>
              </a:rPr>
              <a:t>No manual stock updates required — prevents oversupply &amp; data drift</a:t>
            </a:r>
            <a:endParaRPr lang="en-US" sz="1200" dirty="0"/>
          </a:p>
        </p:txBody>
      </p:sp>
      <p:sp>
        <p:nvSpPr>
          <p:cNvPr id="10" name="Shape 8"/>
          <p:cNvSpPr/>
          <p:nvPr/>
        </p:nvSpPr>
        <p:spPr>
          <a:xfrm>
            <a:off x="4709160" y="1325880"/>
            <a:ext cx="4069080" cy="3474720"/>
          </a:xfrm>
          <a:prstGeom prst="rect">
            <a:avLst/>
          </a:prstGeom>
          <a:solidFill>
            <a:srgbClr val="FFFFFF"/>
          </a:solidFill>
          <a:ln w="12700">
            <a:solidFill>
              <a:srgbClr val="D0E8B8"/>
            </a:solidFill>
            <a:prstDash val="solid"/>
          </a:ln>
          <a:effectLst>
            <a:outerShdw blurRad="63500" dist="25400" dir="8100000" algn="bl" rotWithShape="0">
              <a:srgbClr val="000000">
                <a:alpha val="8000"/>
              </a:srgbClr>
            </a:outerShdw>
          </a:effectLst>
        </p:spPr>
      </p:sp>
      <p:sp>
        <p:nvSpPr>
          <p:cNvPr id="11" name="Shape 9"/>
          <p:cNvSpPr/>
          <p:nvPr/>
        </p:nvSpPr>
        <p:spPr>
          <a:xfrm>
            <a:off x="4709160" y="1325880"/>
            <a:ext cx="4069080" cy="438912"/>
          </a:xfrm>
          <a:prstGeom prst="rect">
            <a:avLst/>
          </a:prstGeom>
          <a:solidFill>
            <a:srgbClr val="2C5F2D"/>
          </a:solidFill>
          <a:ln w="12700">
            <a:solidFill>
              <a:srgbClr val="2C5F2D"/>
            </a:solidFill>
            <a:prstDash val="solid"/>
          </a:ln>
        </p:spPr>
      </p:sp>
      <p:sp>
        <p:nvSpPr>
          <p:cNvPr id="12" name="Text 10"/>
          <p:cNvSpPr/>
          <p:nvPr/>
        </p:nvSpPr>
        <p:spPr>
          <a:xfrm>
            <a:off x="4846320" y="1362456"/>
            <a:ext cx="3794760" cy="365760"/>
          </a:xfrm>
          <a:prstGeom prst="rect">
            <a:avLst/>
          </a:prstGeom>
          <a:noFill/>
          <a:ln/>
        </p:spPr>
        <p:txBody>
          <a:bodyPr wrap="square" lIns="0" tIns="0" rIns="0" bIns="0" rtlCol="0" anchor="ctr"/>
          <a:lstStyle/>
          <a:p>
            <a:pPr marL="0" indent="0">
              <a:buNone/>
            </a:pPr>
            <a:r>
              <a:rPr lang="en-US" sz="1200" b="1" dirty="0">
                <a:solidFill>
                  <a:srgbClr val="FFFFFF"/>
                </a:solidFill>
                <a:latin typeface="Consolas" pitchFamily="34" charset="0"/>
                <a:ea typeface="Consolas" pitchFamily="34" charset="-122"/>
                <a:cs typeface="Consolas" pitchFamily="34" charset="-120"/>
              </a:rPr>
              <a:t>PROCEDURE:  sp_RecordDistribution</a:t>
            </a:r>
            <a:endParaRPr lang="en-US" sz="1200" dirty="0"/>
          </a:p>
        </p:txBody>
      </p:sp>
      <p:sp>
        <p:nvSpPr>
          <p:cNvPr id="13" name="Text 11"/>
          <p:cNvSpPr/>
          <p:nvPr/>
        </p:nvSpPr>
        <p:spPr>
          <a:xfrm>
            <a:off x="4846320" y="1874520"/>
            <a:ext cx="3794760" cy="2697480"/>
          </a:xfrm>
          <a:prstGeom prst="rect">
            <a:avLst/>
          </a:prstGeom>
          <a:noFill/>
          <a:ln/>
        </p:spPr>
        <p:txBody>
          <a:bodyPr wrap="square" rtlCol="0" anchor="t"/>
          <a:lstStyle/>
          <a:p>
            <a:pPr marL="0" indent="0">
              <a:buNone/>
            </a:pPr>
            <a:r>
              <a:rPr lang="en-US" sz="1200" b="1" dirty="0">
                <a:solidFill>
                  <a:srgbClr val="1A2E1A"/>
                </a:solidFill>
                <a:latin typeface="Calibri" pitchFamily="34" charset="0"/>
                <a:ea typeface="Calibri" pitchFamily="34" charset="-122"/>
                <a:cs typeface="Calibri" pitchFamily="34" charset="-120"/>
              </a:rPr>
              <a:t>Purpose: </a:t>
            </a:r>
            <a:r>
              <a:rPr lang="en-US" sz="1200" dirty="0">
                <a:solidFill>
                  <a:srgbClr val="1A2E1A"/>
                </a:solidFill>
                <a:latin typeface="Calibri" pitchFamily="34" charset="0"/>
                <a:ea typeface="Calibri" pitchFamily="34" charset="-122"/>
                <a:cs typeface="Calibri" pitchFamily="34" charset="-120"/>
              </a:rPr>
              <a:t>Safe, reusable interface for recording resource distributions</a:t>
            </a:r>
            <a:endParaRPr lang="en-US" sz="1200" dirty="0"/>
          </a:p>
          <a:p>
            <a:pPr marL="0" indent="0">
              <a:buNone/>
            </a:pPr>
            <a:r>
              <a:rPr lang="en-US" sz="1200" b="1" dirty="0">
                <a:solidFill>
                  <a:srgbClr val="1A2E1A"/>
                </a:solidFill>
                <a:latin typeface="Calibri" pitchFamily="34" charset="0"/>
                <a:ea typeface="Calibri" pitchFamily="34" charset="-122"/>
                <a:cs typeface="Calibri" pitchFamily="34" charset="-120"/>
              </a:rPr>
              <a:t>Inputs:  </a:t>
            </a:r>
            <a:endParaRPr lang="en-US" sz="1200" dirty="0"/>
          </a:p>
          <a:p>
            <a:pPr marL="0" indent="0">
              <a:buNone/>
            </a:pPr>
            <a:r>
              <a:rPr lang="en-US" sz="1100" dirty="0">
                <a:solidFill>
                  <a:srgbClr val="1A2E1A"/>
                </a:solidFill>
                <a:latin typeface="Consolas" pitchFamily="34" charset="0"/>
                <a:ea typeface="Consolas" pitchFamily="34" charset="-122"/>
                <a:cs typeface="Consolas" pitchFamily="34" charset="-120"/>
              </a:rPr>
              <a:t>farm_id, resource_id, official_id, quantity, date</a:t>
            </a:r>
            <a:endParaRPr lang="en-US" sz="1200" dirty="0"/>
          </a:p>
          <a:p>
            <a:pPr marL="0" indent="0">
              <a:buNone/>
            </a:pPr>
            <a:r>
              <a:rPr lang="en-US" sz="1200" b="1" dirty="0">
                <a:solidFill>
                  <a:srgbClr val="1A2E1A"/>
                </a:solidFill>
                <a:latin typeface="Calibri" pitchFamily="34" charset="0"/>
                <a:ea typeface="Calibri" pitchFamily="34" charset="-122"/>
                <a:cs typeface="Calibri" pitchFamily="34" charset="-120"/>
              </a:rPr>
              <a:t>Checks:  </a:t>
            </a:r>
            <a:endParaRPr lang="en-US" sz="1200" dirty="0"/>
          </a:p>
          <a:p>
            <a:pPr marL="0" indent="0">
              <a:buNone/>
            </a:pPr>
            <a:r>
              <a:rPr lang="en-US" sz="1200" dirty="0">
                <a:solidFill>
                  <a:srgbClr val="1A2E1A"/>
                </a:solidFill>
                <a:latin typeface="Calibri" pitchFamily="34" charset="0"/>
                <a:ea typeface="Calibri" pitchFamily="34" charset="-122"/>
                <a:cs typeface="Calibri" pitchFamily="34" charset="-120"/>
              </a:rPr>
              <a:t>Validates stock availability before insert; raises error on out-of-stock</a:t>
            </a:r>
            <a:endParaRPr lang="en-US" sz="1200" dirty="0"/>
          </a:p>
          <a:p>
            <a:pPr marL="0" indent="0">
              <a:buNone/>
            </a:pPr>
            <a:r>
              <a:rPr lang="en-US" sz="1200" b="1" dirty="0">
                <a:solidFill>
                  <a:srgbClr val="1A2E1A"/>
                </a:solidFill>
                <a:latin typeface="Calibri" pitchFamily="34" charset="0"/>
                <a:ea typeface="Calibri" pitchFamily="34" charset="-122"/>
                <a:cs typeface="Calibri" pitchFamily="34" charset="-120"/>
              </a:rPr>
              <a:t>Output:  </a:t>
            </a:r>
            <a:endParaRPr lang="en-US" sz="1200" dirty="0"/>
          </a:p>
          <a:p>
            <a:pPr marL="0" indent="0">
              <a:buNone/>
            </a:pPr>
            <a:r>
              <a:rPr lang="en-US" sz="1200" dirty="0">
                <a:solidFill>
                  <a:srgbClr val="1A2E1A"/>
                </a:solidFill>
                <a:latin typeface="Calibri" pitchFamily="34" charset="0"/>
                <a:ea typeface="Calibri" pitchFamily="34" charset="-122"/>
                <a:cs typeface="Calibri" pitchFamily="34" charset="-120"/>
              </a:rPr>
              <a:t>Confirmation message with distribution record ID</a:t>
            </a:r>
            <a:endParaRPr lang="en-US" sz="1200" dirty="0"/>
          </a:p>
          <a:p>
            <a:pPr marL="0" indent="0">
              <a:buNone/>
            </a:pPr>
            <a:r>
              <a:rPr lang="en-US" sz="1200" b="1" dirty="0">
                <a:solidFill>
                  <a:srgbClr val="1A2E1A"/>
                </a:solidFill>
                <a:latin typeface="Calibri" pitchFamily="34" charset="0"/>
                <a:ea typeface="Calibri" pitchFamily="34" charset="-122"/>
                <a:cs typeface="Calibri" pitchFamily="34" charset="-120"/>
              </a:rPr>
              <a:t>Benefit: </a:t>
            </a:r>
            <a:endParaRPr lang="en-US" sz="1200" dirty="0"/>
          </a:p>
          <a:p>
            <a:pPr marL="0" indent="0">
              <a:buNone/>
            </a:pPr>
            <a:r>
              <a:rPr lang="en-US" sz="1200" dirty="0">
                <a:solidFill>
                  <a:srgbClr val="1A2E1A"/>
                </a:solidFill>
                <a:latin typeface="Calibri" pitchFamily="34" charset="0"/>
                <a:ea typeface="Calibri" pitchFamily="34" charset="-122"/>
                <a:cs typeface="Calibri" pitchFamily="34" charset="-120"/>
              </a:rPr>
              <a:t>Encapsulates business logic; prevents direct table manipulation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4F7F0"/>
        </a:solidFill>
        <a:effectLst/>
      </p:bgPr>
    </p:bg>
    <p:spTree>
      <p:nvGrpSpPr>
        <p:cNvPr id="1" name=""/>
        <p:cNvGrpSpPr/>
        <p:nvPr/>
      </p:nvGrpSpPr>
      <p:grpSpPr>
        <a:xfrm>
          <a:off x="0" y="0"/>
          <a:ext cx="0" cy="0"/>
          <a:chOff x="0" y="0"/>
          <a:chExt cx="0" cy="0"/>
        </a:xfrm>
      </p:grpSpPr>
      <p:sp>
        <p:nvSpPr>
          <p:cNvPr id="2" name="Shape 0"/>
          <p:cNvSpPr/>
          <p:nvPr/>
        </p:nvSpPr>
        <p:spPr>
          <a:xfrm>
            <a:off x="457200" y="502920"/>
            <a:ext cx="64008" cy="594360"/>
          </a:xfrm>
          <a:prstGeom prst="rect">
            <a:avLst/>
          </a:prstGeom>
          <a:solidFill>
            <a:srgbClr val="6AAB3A"/>
          </a:solidFill>
          <a:ln w="12700">
            <a:solidFill>
              <a:srgbClr val="6AAB3A"/>
            </a:solidFill>
            <a:prstDash val="solid"/>
          </a:ln>
        </p:spPr>
      </p:sp>
      <p:sp>
        <p:nvSpPr>
          <p:cNvPr id="3" name="Text 1"/>
          <p:cNvSpPr/>
          <p:nvPr/>
        </p:nvSpPr>
        <p:spPr>
          <a:xfrm>
            <a:off x="612648" y="457200"/>
            <a:ext cx="8046720" cy="685800"/>
          </a:xfrm>
          <a:prstGeom prst="rect">
            <a:avLst/>
          </a:prstGeom>
          <a:noFill/>
          <a:ln/>
        </p:spPr>
        <p:txBody>
          <a:bodyPr wrap="square" lIns="0" tIns="0" rIns="0" bIns="0" rtlCol="0" anchor="ctr"/>
          <a:lstStyle/>
          <a:p>
            <a:pPr marL="0" indent="0">
              <a:buNone/>
            </a:pPr>
            <a:r>
              <a:rPr lang="en-US" sz="2800" b="1" dirty="0">
                <a:solidFill>
                  <a:srgbClr val="1A2E1A"/>
                </a:solidFill>
                <a:latin typeface="Trebuchet MS" pitchFamily="34" charset="0"/>
                <a:ea typeface="Trebuchet MS" pitchFamily="34" charset="-122"/>
                <a:cs typeface="Trebuchet MS" pitchFamily="34" charset="-120"/>
              </a:rPr>
              <a:t>6. Backup, Recovery &amp; Testing</a:t>
            </a:r>
            <a:endParaRPr lang="en-US" sz="2800" dirty="0"/>
          </a:p>
        </p:txBody>
      </p:sp>
      <p:sp>
        <p:nvSpPr>
          <p:cNvPr id="4" name="Shape 2"/>
          <p:cNvSpPr/>
          <p:nvPr/>
        </p:nvSpPr>
        <p:spPr>
          <a:xfrm>
            <a:off x="457200" y="1170432"/>
            <a:ext cx="8229600" cy="0"/>
          </a:xfrm>
          <a:prstGeom prst="line">
            <a:avLst/>
          </a:prstGeom>
          <a:noFill/>
          <a:ln w="15240">
            <a:solidFill>
              <a:srgbClr val="6AAB3A"/>
            </a:solidFill>
            <a:prstDash val="solid"/>
          </a:ln>
        </p:spPr>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4A6741"/>
                </a:solidFill>
                <a:latin typeface="Calibri" pitchFamily="34" charset="0"/>
                <a:ea typeface="Calibri" pitchFamily="34" charset="-122"/>
                <a:cs typeface="Calibri" pitchFamily="34" charset="-120"/>
              </a:rPr>
              <a:t>8 / 10</a:t>
            </a:r>
            <a:endParaRPr lang="en-US" sz="900" dirty="0"/>
          </a:p>
        </p:txBody>
      </p:sp>
      <p:sp>
        <p:nvSpPr>
          <p:cNvPr id="6" name="Text 4"/>
          <p:cNvSpPr/>
          <p:nvPr/>
        </p:nvSpPr>
        <p:spPr>
          <a:xfrm>
            <a:off x="457200" y="1325880"/>
            <a:ext cx="3840480" cy="347472"/>
          </a:xfrm>
          <a:prstGeom prst="rect">
            <a:avLst/>
          </a:prstGeom>
          <a:noFill/>
          <a:ln/>
        </p:spPr>
        <p:txBody>
          <a:bodyPr wrap="square" rtlCol="0" anchor="ctr"/>
          <a:lstStyle/>
          <a:p>
            <a:pPr marL="0" indent="0">
              <a:buNone/>
            </a:pPr>
            <a:r>
              <a:rPr lang="en-US" sz="1400" b="1" dirty="0">
                <a:solidFill>
                  <a:srgbClr val="2C5F2D"/>
                </a:solidFill>
                <a:latin typeface="Trebuchet MS" pitchFamily="34" charset="0"/>
                <a:ea typeface="Trebuchet MS" pitchFamily="34" charset="-122"/>
                <a:cs typeface="Trebuchet MS" pitchFamily="34" charset="-120"/>
              </a:rPr>
              <a:t>Backup &amp; Recovery Strategy</a:t>
            </a:r>
            <a:endParaRPr lang="en-US" sz="1400" dirty="0"/>
          </a:p>
        </p:txBody>
      </p:sp>
      <p:sp>
        <p:nvSpPr>
          <p:cNvPr id="7" name="Text 5"/>
          <p:cNvSpPr/>
          <p:nvPr/>
        </p:nvSpPr>
        <p:spPr>
          <a:xfrm>
            <a:off x="457200" y="1737360"/>
            <a:ext cx="3931920" cy="3017520"/>
          </a:xfrm>
          <a:prstGeom prst="rect">
            <a:avLst/>
          </a:prstGeom>
          <a:noFill/>
          <a:ln/>
        </p:spPr>
        <p:txBody>
          <a:bodyPr wrap="square" rtlCol="0" anchor="ctr"/>
          <a:lstStyle/>
          <a:p>
            <a:pPr marL="342900" indent="-342900">
              <a:spcAft>
                <a:spcPts val="500"/>
              </a:spcAft>
              <a:buSzPct val="100000"/>
              <a:buChar char="•"/>
            </a:pPr>
            <a:r>
              <a:rPr lang="en-US" sz="1250" b="1" dirty="0">
                <a:solidFill>
                  <a:srgbClr val="1A2E1A"/>
                </a:solidFill>
                <a:latin typeface="Calibri" pitchFamily="34" charset="0"/>
                <a:ea typeface="Calibri" pitchFamily="34" charset="-122"/>
                <a:cs typeface="Calibri" pitchFamily="34" charset="-120"/>
              </a:rPr>
              <a:t>Full Backup</a:t>
            </a:r>
            <a:endParaRPr lang="en-US" sz="1250" dirty="0"/>
          </a:p>
          <a:p>
            <a:pPr marL="685800" lvl="1" indent="-342900">
              <a:spcAft>
                <a:spcPts val="500"/>
              </a:spcAft>
              <a:buSzPct val="100000"/>
              <a:buChar char="•"/>
            </a:pPr>
            <a:r>
              <a:rPr lang="en-US" sz="1250" dirty="0">
                <a:solidFill>
                  <a:srgbClr val="1A2E1A"/>
                </a:solidFill>
                <a:latin typeface="Calibri" pitchFamily="34" charset="0"/>
                <a:ea typeface="Calibri" pitchFamily="34" charset="-122"/>
                <a:cs typeface="Calibri" pitchFamily="34" charset="-120"/>
              </a:rPr>
              <a:t>Daily mysqldump of coffee_production schema</a:t>
            </a:r>
            <a:endParaRPr lang="en-US" sz="1250" dirty="0"/>
          </a:p>
          <a:p>
            <a:pPr marL="342900" indent="-342900">
              <a:spcAft>
                <a:spcPts val="500"/>
              </a:spcAft>
              <a:buSzPct val="100000"/>
              <a:buChar char="•"/>
            </a:pPr>
            <a:r>
              <a:rPr lang="en-US" sz="1250" b="1" dirty="0">
                <a:solidFill>
                  <a:srgbClr val="1A2E1A"/>
                </a:solidFill>
                <a:latin typeface="Calibri" pitchFamily="34" charset="0"/>
                <a:ea typeface="Calibri" pitchFamily="34" charset="-122"/>
                <a:cs typeface="Calibri" pitchFamily="34" charset="-120"/>
              </a:rPr>
              <a:t>Point-in-Time Recovery</a:t>
            </a:r>
            <a:endParaRPr lang="en-US" sz="1250" dirty="0"/>
          </a:p>
          <a:p>
            <a:pPr marL="685800" lvl="1" indent="-342900">
              <a:spcAft>
                <a:spcPts val="500"/>
              </a:spcAft>
              <a:buSzPct val="100000"/>
              <a:buChar char="•"/>
            </a:pPr>
            <a:r>
              <a:rPr lang="en-US" sz="1250" dirty="0">
                <a:solidFill>
                  <a:srgbClr val="1A2E1A"/>
                </a:solidFill>
                <a:latin typeface="Calibri" pitchFamily="34" charset="0"/>
                <a:ea typeface="Calibri" pitchFamily="34" charset="-122"/>
                <a:cs typeface="Calibri" pitchFamily="34" charset="-120"/>
              </a:rPr>
              <a:t>Enabled via MySQL binary logs</a:t>
            </a:r>
            <a:endParaRPr lang="en-US" sz="1250" dirty="0"/>
          </a:p>
          <a:p>
            <a:pPr marL="342900" indent="-342900">
              <a:spcAft>
                <a:spcPts val="500"/>
              </a:spcAft>
              <a:buSzPct val="100000"/>
              <a:buChar char="•"/>
            </a:pPr>
            <a:r>
              <a:rPr lang="en-US" sz="1250" b="1" dirty="0">
                <a:solidFill>
                  <a:srgbClr val="1A2E1A"/>
                </a:solidFill>
                <a:latin typeface="Calibri" pitchFamily="34" charset="0"/>
                <a:ea typeface="Calibri" pitchFamily="34" charset="-122"/>
                <a:cs typeface="Calibri" pitchFamily="34" charset="-120"/>
              </a:rPr>
              <a:t>Recovery Command:</a:t>
            </a:r>
            <a:endParaRPr lang="en-US" sz="1250" dirty="0"/>
          </a:p>
          <a:p>
            <a:pPr marL="685800" lvl="1" indent="-342900">
              <a:buSzPct val="100000"/>
              <a:buChar char="•"/>
            </a:pPr>
            <a:r>
              <a:rPr lang="en-US" sz="1050" dirty="0">
                <a:solidFill>
                  <a:srgbClr val="1A2E1A"/>
                </a:solidFill>
                <a:latin typeface="Consolas" pitchFamily="34" charset="0"/>
                <a:ea typeface="Consolas" pitchFamily="34" charset="-122"/>
                <a:cs typeface="Consolas" pitchFamily="34" charset="-120"/>
              </a:rPr>
              <a:t>mysql -u [user] -p coffee_production &lt; backup.sql</a:t>
            </a:r>
            <a:endParaRPr lang="en-US" sz="1250" dirty="0"/>
          </a:p>
        </p:txBody>
      </p:sp>
      <p:sp>
        <p:nvSpPr>
          <p:cNvPr id="8" name="Shape 6"/>
          <p:cNvSpPr/>
          <p:nvPr/>
        </p:nvSpPr>
        <p:spPr>
          <a:xfrm>
            <a:off x="4526280" y="1325880"/>
            <a:ext cx="0" cy="3474720"/>
          </a:xfrm>
          <a:prstGeom prst="line">
            <a:avLst/>
          </a:prstGeom>
          <a:noFill/>
          <a:ln w="12700">
            <a:solidFill>
              <a:srgbClr val="C8DEB8"/>
            </a:solidFill>
            <a:prstDash val="dash"/>
          </a:ln>
        </p:spPr>
      </p:sp>
      <p:sp>
        <p:nvSpPr>
          <p:cNvPr id="9" name="Text 7"/>
          <p:cNvSpPr/>
          <p:nvPr/>
        </p:nvSpPr>
        <p:spPr>
          <a:xfrm>
            <a:off x="4754880" y="1325880"/>
            <a:ext cx="3931920" cy="347472"/>
          </a:xfrm>
          <a:prstGeom prst="rect">
            <a:avLst/>
          </a:prstGeom>
          <a:noFill/>
          <a:ln/>
        </p:spPr>
        <p:txBody>
          <a:bodyPr wrap="square" rtlCol="0" anchor="ctr"/>
          <a:lstStyle/>
          <a:p>
            <a:pPr marL="0" indent="0">
              <a:buNone/>
            </a:pPr>
            <a:r>
              <a:rPr lang="en-US" sz="1400" b="1" dirty="0">
                <a:solidFill>
                  <a:srgbClr val="2C5F2D"/>
                </a:solidFill>
                <a:latin typeface="Trebuchet MS" pitchFamily="34" charset="0"/>
                <a:ea typeface="Trebuchet MS" pitchFamily="34" charset="-122"/>
                <a:cs typeface="Trebuchet MS" pitchFamily="34" charset="-120"/>
              </a:rPr>
              <a:t>System Testing</a:t>
            </a:r>
            <a:endParaRPr lang="en-US" sz="1400" dirty="0"/>
          </a:p>
        </p:txBody>
      </p:sp>
      <p:sp>
        <p:nvSpPr>
          <p:cNvPr id="10" name="Text 8"/>
          <p:cNvSpPr/>
          <p:nvPr/>
        </p:nvSpPr>
        <p:spPr>
          <a:xfrm>
            <a:off x="4754880" y="1737360"/>
            <a:ext cx="3931920" cy="3017520"/>
          </a:xfrm>
          <a:prstGeom prst="rect">
            <a:avLst/>
          </a:prstGeom>
          <a:noFill/>
          <a:ln/>
        </p:spPr>
        <p:txBody>
          <a:bodyPr wrap="square" rtlCol="0" anchor="ctr"/>
          <a:lstStyle/>
          <a:p>
            <a:pPr marL="342900" indent="-342900">
              <a:spcAft>
                <a:spcPts val="300"/>
              </a:spcAft>
              <a:buSzPct val="100000"/>
              <a:buChar char="•"/>
            </a:pPr>
            <a:r>
              <a:rPr lang="en-US" sz="1150" b="1" dirty="0">
                <a:solidFill>
                  <a:srgbClr val="1A2E1A"/>
                </a:solidFill>
                <a:latin typeface="Calibri" pitchFamily="34" charset="0"/>
                <a:ea typeface="Calibri" pitchFamily="34" charset="-122"/>
                <a:cs typeface="Calibri" pitchFamily="34" charset="-120"/>
              </a:rPr>
              <a:t>Referential Integrity: </a:t>
            </a:r>
            <a:r>
              <a:rPr lang="en-US" sz="1150" dirty="0">
                <a:solidFill>
                  <a:srgbClr val="1A2E1A"/>
                </a:solidFill>
                <a:latin typeface="Calibri" pitchFamily="34" charset="0"/>
                <a:ea typeface="Calibri" pitchFamily="34" charset="-122"/>
                <a:cs typeface="Calibri" pitchFamily="34" charset="-120"/>
              </a:rPr>
              <a:t>Deleting a PERSON cascades correctly to FARMER / OFFICIAL / WORKER subtypes</a:t>
            </a:r>
            <a:endParaRPr lang="en-US" sz="1150" dirty="0"/>
          </a:p>
          <a:p>
            <a:pPr marL="342900" indent="-342900">
              <a:spcAft>
                <a:spcPts val="300"/>
              </a:spcAft>
              <a:buSzPct val="100000"/>
              <a:buChar char="•"/>
            </a:pPr>
            <a:r>
              <a:rPr lang="en-US" sz="1150" b="1" dirty="0">
                <a:solidFill>
                  <a:srgbClr val="1A2E1A"/>
                </a:solidFill>
                <a:latin typeface="Calibri" pitchFamily="34" charset="0"/>
                <a:ea typeface="Calibri" pitchFamily="34" charset="-122"/>
                <a:cs typeface="Calibri" pitchFamily="34" charset="-120"/>
              </a:rPr>
              <a:t>Constraint Validation: </a:t>
            </a:r>
            <a:r>
              <a:rPr lang="en-US" sz="1150" dirty="0">
                <a:solidFill>
                  <a:srgbClr val="1A2E1A"/>
                </a:solidFill>
                <a:latin typeface="Calibri" pitchFamily="34" charset="0"/>
                <a:ea typeface="Calibri" pitchFamily="34" charset="-122"/>
                <a:cs typeface="Calibri" pitchFamily="34" charset="-120"/>
              </a:rPr>
              <a:t>Negative farm size or quantity_distributed rejected by CHECK constraint</a:t>
            </a:r>
            <a:endParaRPr lang="en-US" sz="1150" dirty="0"/>
          </a:p>
          <a:p>
            <a:pPr marL="342900" indent="-342900">
              <a:spcAft>
                <a:spcPts val="300"/>
              </a:spcAft>
              <a:buSzPct val="100000"/>
              <a:buChar char="•"/>
            </a:pPr>
            <a:r>
              <a:rPr lang="en-US" sz="1150" b="1" dirty="0">
                <a:solidFill>
                  <a:srgbClr val="1A2E1A"/>
                </a:solidFill>
                <a:latin typeface="Calibri" pitchFamily="34" charset="0"/>
                <a:ea typeface="Calibri" pitchFamily="34" charset="-122"/>
                <a:cs typeface="Calibri" pitchFamily="34" charset="-120"/>
              </a:rPr>
              <a:t>Location FK Integrity: </a:t>
            </a:r>
            <a:r>
              <a:rPr lang="en-US" sz="1150" dirty="0">
                <a:solidFill>
                  <a:srgbClr val="1A2E1A"/>
                </a:solidFill>
                <a:latin typeface="Calibri" pitchFamily="34" charset="0"/>
                <a:ea typeface="Calibri" pitchFamily="34" charset="-122"/>
                <a:cs typeface="Calibri" pitchFamily="34" charset="-120"/>
              </a:rPr>
              <a:t>FARM and FARMER must reference a valid LOCATION_ID — orphan inserts blocked</a:t>
            </a:r>
            <a:endParaRPr lang="en-US" sz="1150" dirty="0"/>
          </a:p>
          <a:p>
            <a:pPr marL="342900" indent="-342900">
              <a:spcAft>
                <a:spcPts val="300"/>
              </a:spcAft>
              <a:buSzPct val="100000"/>
              <a:buChar char="•"/>
            </a:pPr>
            <a:r>
              <a:rPr lang="en-US" sz="1150" b="1" dirty="0">
                <a:solidFill>
                  <a:srgbClr val="1A2E1A"/>
                </a:solidFill>
                <a:latin typeface="Calibri" pitchFamily="34" charset="0"/>
                <a:ea typeface="Calibri" pitchFamily="34" charset="-122"/>
                <a:cs typeface="Calibri" pitchFamily="34" charset="-120"/>
              </a:rPr>
              <a:t>Automation Accuracy: </a:t>
            </a:r>
            <a:r>
              <a:rPr lang="en-US" sz="1150" dirty="0">
                <a:solidFill>
                  <a:srgbClr val="1A2E1A"/>
                </a:solidFill>
                <a:latin typeface="Calibri" pitchFamily="34" charset="0"/>
                <a:ea typeface="Calibri" pitchFamily="34" charset="-122"/>
                <a:cs typeface="Calibri" pitchFamily="34" charset="-120"/>
              </a:rPr>
              <a:t>Distribution INSERT correctly decrements resource stock_quantity via trigger</a:t>
            </a:r>
            <a:endParaRPr lang="en-US" sz="1150" dirty="0"/>
          </a:p>
          <a:p>
            <a:pPr marL="342900" indent="-342900">
              <a:spcAft>
                <a:spcPts val="300"/>
              </a:spcAft>
              <a:buSzPct val="100000"/>
              <a:buChar char="•"/>
            </a:pPr>
            <a:r>
              <a:rPr lang="en-US" sz="1150" b="1" dirty="0">
                <a:solidFill>
                  <a:srgbClr val="1A2E1A"/>
                </a:solidFill>
                <a:latin typeface="Calibri" pitchFamily="34" charset="0"/>
                <a:ea typeface="Calibri" pitchFamily="34" charset="-122"/>
                <a:cs typeface="Calibri" pitchFamily="34" charset="-120"/>
              </a:rPr>
              <a:t>Out-of-Stock Guard: </a:t>
            </a:r>
            <a:r>
              <a:rPr lang="en-US" sz="1150" dirty="0">
                <a:solidFill>
                  <a:srgbClr val="1A2E1A"/>
                </a:solidFill>
                <a:latin typeface="Calibri" pitchFamily="34" charset="0"/>
                <a:ea typeface="Calibri" pitchFamily="34" charset="-122"/>
                <a:cs typeface="Calibri" pitchFamily="34" charset="-120"/>
              </a:rPr>
              <a:t>sp_RecordDistribution raises error when stock is insufficient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1A2E1A"/>
        </a:solidFill>
        <a:effectLst/>
      </p:bgPr>
    </p:bg>
    <p:spTree>
      <p:nvGrpSpPr>
        <p:cNvPr id="1" name=""/>
        <p:cNvGrpSpPr/>
        <p:nvPr/>
      </p:nvGrpSpPr>
      <p:grpSpPr>
        <a:xfrm>
          <a:off x="0" y="0"/>
          <a:ext cx="0" cy="0"/>
          <a:chOff x="0" y="0"/>
          <a:chExt cx="0" cy="0"/>
        </a:xfrm>
      </p:grpSpPr>
      <p:sp>
        <p:nvSpPr>
          <p:cNvPr id="2" name="Shape 0"/>
          <p:cNvSpPr/>
          <p:nvPr/>
        </p:nvSpPr>
        <p:spPr>
          <a:xfrm>
            <a:off x="457200" y="502920"/>
            <a:ext cx="64008" cy="594360"/>
          </a:xfrm>
          <a:prstGeom prst="rect">
            <a:avLst/>
          </a:prstGeom>
          <a:solidFill>
            <a:srgbClr val="6AAB3A"/>
          </a:solidFill>
          <a:ln w="12700">
            <a:solidFill>
              <a:srgbClr val="6AAB3A"/>
            </a:solidFill>
            <a:prstDash val="solid"/>
          </a:ln>
        </p:spPr>
      </p:sp>
      <p:sp>
        <p:nvSpPr>
          <p:cNvPr id="3" name="Text 1"/>
          <p:cNvSpPr/>
          <p:nvPr/>
        </p:nvSpPr>
        <p:spPr>
          <a:xfrm>
            <a:off x="612648" y="457200"/>
            <a:ext cx="8046720" cy="6858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7. Demonstration &amp; Results</a:t>
            </a:r>
            <a:endParaRPr lang="en-US" sz="2800" dirty="0"/>
          </a:p>
        </p:txBody>
      </p:sp>
      <p:sp>
        <p:nvSpPr>
          <p:cNvPr id="4" name="Shape 2"/>
          <p:cNvSpPr/>
          <p:nvPr/>
        </p:nvSpPr>
        <p:spPr>
          <a:xfrm>
            <a:off x="457200" y="1170432"/>
            <a:ext cx="8229600" cy="0"/>
          </a:xfrm>
          <a:prstGeom prst="line">
            <a:avLst/>
          </a:prstGeom>
          <a:noFill/>
          <a:ln w="15240">
            <a:solidFill>
              <a:srgbClr val="8FAF72"/>
            </a:solidFill>
            <a:prstDash val="solid"/>
          </a:ln>
        </p:spPr>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8FAF72"/>
                </a:solidFill>
                <a:latin typeface="Calibri" pitchFamily="34" charset="0"/>
                <a:ea typeface="Calibri" pitchFamily="34" charset="-122"/>
                <a:cs typeface="Calibri" pitchFamily="34" charset="-120"/>
              </a:rPr>
              <a:t>9 / 10</a:t>
            </a:r>
            <a:endParaRPr lang="en-US" sz="900" dirty="0"/>
          </a:p>
        </p:txBody>
      </p:sp>
      <p:sp>
        <p:nvSpPr>
          <p:cNvPr id="6" name="Shape 4"/>
          <p:cNvSpPr/>
          <p:nvPr/>
        </p:nvSpPr>
        <p:spPr>
          <a:xfrm>
            <a:off x="457200" y="1371600"/>
            <a:ext cx="8229600" cy="1005840"/>
          </a:xfrm>
          <a:prstGeom prst="rect">
            <a:avLst/>
          </a:prstGeom>
          <a:solidFill>
            <a:srgbClr val="1E3D1A"/>
          </a:solidFill>
          <a:ln w="12700">
            <a:solidFill>
              <a:srgbClr val="2C5F2D"/>
            </a:solidFill>
            <a:prstDash val="solid"/>
          </a:ln>
        </p:spPr>
      </p:sp>
      <p:sp>
        <p:nvSpPr>
          <p:cNvPr id="7" name="Shape 5"/>
          <p:cNvSpPr/>
          <p:nvPr/>
        </p:nvSpPr>
        <p:spPr>
          <a:xfrm>
            <a:off x="457200" y="1371600"/>
            <a:ext cx="1188720" cy="1005840"/>
          </a:xfrm>
          <a:prstGeom prst="rect">
            <a:avLst/>
          </a:prstGeom>
          <a:solidFill>
            <a:srgbClr val="6AAB3A"/>
          </a:solidFill>
          <a:ln w="12700">
            <a:solidFill>
              <a:srgbClr val="6AAB3A"/>
            </a:solidFill>
            <a:prstDash val="solid"/>
          </a:ln>
        </p:spPr>
      </p:sp>
      <p:sp>
        <p:nvSpPr>
          <p:cNvPr id="8" name="Text 6"/>
          <p:cNvSpPr/>
          <p:nvPr/>
        </p:nvSpPr>
        <p:spPr>
          <a:xfrm>
            <a:off x="457200" y="1371600"/>
            <a:ext cx="1188720" cy="1005840"/>
          </a:xfrm>
          <a:prstGeom prst="rect">
            <a:avLst/>
          </a:prstGeom>
          <a:noFill/>
          <a:ln/>
        </p:spPr>
        <p:txBody>
          <a:bodyPr wrap="square" rtlCol="0" anchor="ctr"/>
          <a:lstStyle/>
          <a:p>
            <a:pPr marL="0" indent="0" algn="ctr">
              <a:buNone/>
            </a:pPr>
            <a:r>
              <a:rPr lang="en-US" sz="1000" b="1" dirty="0">
                <a:solidFill>
                  <a:srgbClr val="1A2E1A"/>
                </a:solidFill>
                <a:latin typeface="Trebuchet MS" pitchFamily="34" charset="0"/>
                <a:ea typeface="Trebuchet MS" pitchFamily="34" charset="-122"/>
                <a:cs typeface="Trebuchet MS" pitchFamily="34" charset="-120"/>
              </a:rPr>
              <a:t>VIEW</a:t>
            </a:r>
            <a:endParaRPr lang="en-US" sz="1000" dirty="0"/>
          </a:p>
        </p:txBody>
      </p:sp>
      <p:sp>
        <p:nvSpPr>
          <p:cNvPr id="9" name="Text 7"/>
          <p:cNvSpPr/>
          <p:nvPr/>
        </p:nvSpPr>
        <p:spPr>
          <a:xfrm>
            <a:off x="1783080" y="1444752"/>
            <a:ext cx="6720840" cy="347472"/>
          </a:xfrm>
          <a:prstGeom prst="rect">
            <a:avLst/>
          </a:prstGeom>
          <a:noFill/>
          <a:ln/>
        </p:spPr>
        <p:txBody>
          <a:bodyPr wrap="square" rtlCol="0" anchor="ctr"/>
          <a:lstStyle/>
          <a:p>
            <a:pPr marL="0" indent="0">
              <a:buNone/>
            </a:pPr>
            <a:r>
              <a:rPr lang="en-US" sz="1400" b="1" dirty="0">
                <a:solidFill>
                  <a:srgbClr val="6AAB3A"/>
                </a:solidFill>
                <a:latin typeface="Consolas" pitchFamily="34" charset="0"/>
                <a:ea typeface="Consolas" pitchFamily="34" charset="-122"/>
                <a:cs typeface="Consolas" pitchFamily="34" charset="-120"/>
              </a:rPr>
              <a:t>vw_farm_inventory</a:t>
            </a:r>
            <a:endParaRPr lang="en-US" sz="1400" dirty="0"/>
          </a:p>
        </p:txBody>
      </p:sp>
      <p:sp>
        <p:nvSpPr>
          <p:cNvPr id="10" name="Text 8"/>
          <p:cNvSpPr/>
          <p:nvPr/>
        </p:nvSpPr>
        <p:spPr>
          <a:xfrm>
            <a:off x="1783080" y="1810512"/>
            <a:ext cx="6720840" cy="502920"/>
          </a:xfrm>
          <a:prstGeom prst="rect">
            <a:avLst/>
          </a:prstGeom>
          <a:noFill/>
          <a:ln/>
        </p:spPr>
        <p:txBody>
          <a:bodyPr wrap="square" rtlCol="0" anchor="ctr"/>
          <a:lstStyle/>
          <a:p>
            <a:pPr marL="0" indent="0">
              <a:buNone/>
            </a:pPr>
            <a:r>
              <a:rPr lang="en-US" sz="1150" dirty="0">
                <a:solidFill>
                  <a:srgbClr val="C8DEB8"/>
                </a:solidFill>
                <a:latin typeface="Calibri" pitchFamily="34" charset="0"/>
                <a:ea typeface="Calibri" pitchFamily="34" charset="-122"/>
                <a:cs typeface="Calibri" pitchFamily="34" charset="-120"/>
              </a:rPr>
              <a:t>Joins farms, resources, distributions and location data into a single readable view. Used by extension workers and officials without querying multiple tables.</a:t>
            </a:r>
            <a:endParaRPr lang="en-US" sz="1150" dirty="0"/>
          </a:p>
        </p:txBody>
      </p:sp>
      <p:sp>
        <p:nvSpPr>
          <p:cNvPr id="11" name="Shape 9"/>
          <p:cNvSpPr/>
          <p:nvPr/>
        </p:nvSpPr>
        <p:spPr>
          <a:xfrm>
            <a:off x="457200" y="2560320"/>
            <a:ext cx="8229600" cy="1005840"/>
          </a:xfrm>
          <a:prstGeom prst="rect">
            <a:avLst/>
          </a:prstGeom>
          <a:solidFill>
            <a:srgbClr val="1E3D1A"/>
          </a:solidFill>
          <a:ln w="12700">
            <a:solidFill>
              <a:srgbClr val="2C5F2D"/>
            </a:solidFill>
            <a:prstDash val="solid"/>
          </a:ln>
        </p:spPr>
      </p:sp>
      <p:sp>
        <p:nvSpPr>
          <p:cNvPr id="12" name="Shape 10"/>
          <p:cNvSpPr/>
          <p:nvPr/>
        </p:nvSpPr>
        <p:spPr>
          <a:xfrm>
            <a:off x="457200" y="2560320"/>
            <a:ext cx="1188720" cy="1005840"/>
          </a:xfrm>
          <a:prstGeom prst="rect">
            <a:avLst/>
          </a:prstGeom>
          <a:solidFill>
            <a:srgbClr val="6AAB3A"/>
          </a:solidFill>
          <a:ln w="12700">
            <a:solidFill>
              <a:srgbClr val="6AAB3A"/>
            </a:solidFill>
            <a:prstDash val="solid"/>
          </a:ln>
        </p:spPr>
      </p:sp>
      <p:sp>
        <p:nvSpPr>
          <p:cNvPr id="13" name="Text 11"/>
          <p:cNvSpPr/>
          <p:nvPr/>
        </p:nvSpPr>
        <p:spPr>
          <a:xfrm>
            <a:off x="457200" y="2560320"/>
            <a:ext cx="1188720" cy="1005840"/>
          </a:xfrm>
          <a:prstGeom prst="rect">
            <a:avLst/>
          </a:prstGeom>
          <a:noFill/>
          <a:ln/>
        </p:spPr>
        <p:txBody>
          <a:bodyPr wrap="square" rtlCol="0" anchor="ctr"/>
          <a:lstStyle/>
          <a:p>
            <a:pPr marL="0" indent="0" algn="ctr">
              <a:buNone/>
            </a:pPr>
            <a:r>
              <a:rPr lang="en-US" sz="1000" b="1" dirty="0">
                <a:solidFill>
                  <a:srgbClr val="1A2E1A"/>
                </a:solidFill>
                <a:latin typeface="Trebuchet MS" pitchFamily="34" charset="0"/>
                <a:ea typeface="Trebuchet MS" pitchFamily="34" charset="-122"/>
                <a:cs typeface="Trebuchet MS" pitchFamily="34" charset="-120"/>
              </a:rPr>
              <a:t>PROCEDURE</a:t>
            </a:r>
            <a:endParaRPr lang="en-US" sz="1000" dirty="0"/>
          </a:p>
        </p:txBody>
      </p:sp>
      <p:sp>
        <p:nvSpPr>
          <p:cNvPr id="14" name="Text 12"/>
          <p:cNvSpPr/>
          <p:nvPr/>
        </p:nvSpPr>
        <p:spPr>
          <a:xfrm>
            <a:off x="1783080" y="2633472"/>
            <a:ext cx="6720840" cy="347472"/>
          </a:xfrm>
          <a:prstGeom prst="rect">
            <a:avLst/>
          </a:prstGeom>
          <a:noFill/>
          <a:ln/>
        </p:spPr>
        <p:txBody>
          <a:bodyPr wrap="square" rtlCol="0" anchor="ctr"/>
          <a:lstStyle/>
          <a:p>
            <a:pPr marL="0" indent="0">
              <a:buNone/>
            </a:pPr>
            <a:r>
              <a:rPr lang="en-US" sz="1400" b="1" dirty="0">
                <a:solidFill>
                  <a:srgbClr val="6AAB3A"/>
                </a:solidFill>
                <a:latin typeface="Consolas" pitchFamily="34" charset="0"/>
                <a:ea typeface="Consolas" pitchFamily="34" charset="-122"/>
                <a:cs typeface="Consolas" pitchFamily="34" charset="-120"/>
              </a:rPr>
              <a:t>sp_RecordDistribution</a:t>
            </a:r>
            <a:endParaRPr lang="en-US" sz="1400" dirty="0"/>
          </a:p>
        </p:txBody>
      </p:sp>
      <p:sp>
        <p:nvSpPr>
          <p:cNvPr id="15" name="Text 13"/>
          <p:cNvSpPr/>
          <p:nvPr/>
        </p:nvSpPr>
        <p:spPr>
          <a:xfrm>
            <a:off x="1783080" y="2999232"/>
            <a:ext cx="6720840" cy="502920"/>
          </a:xfrm>
          <a:prstGeom prst="rect">
            <a:avLst/>
          </a:prstGeom>
          <a:noFill/>
          <a:ln/>
        </p:spPr>
        <p:txBody>
          <a:bodyPr wrap="square" rtlCol="0" anchor="ctr"/>
          <a:lstStyle/>
          <a:p>
            <a:pPr marL="0" indent="0">
              <a:buNone/>
            </a:pPr>
            <a:r>
              <a:rPr lang="en-US" sz="1150" dirty="0">
                <a:solidFill>
                  <a:srgbClr val="C8DEB8"/>
                </a:solidFill>
                <a:latin typeface="Calibri" pitchFamily="34" charset="0"/>
                <a:ea typeface="Calibri" pitchFamily="34" charset="-122"/>
                <a:cs typeface="Calibri" pitchFamily="34" charset="-120"/>
              </a:rPr>
              <a:t>Accepts farm_id, resource_id, official_id, quantity, and date. Validates stock, inserts the distribution record, and triggers automatic stock decrement.</a:t>
            </a:r>
            <a:endParaRPr lang="en-US" sz="1150" dirty="0"/>
          </a:p>
        </p:txBody>
      </p:sp>
      <p:sp>
        <p:nvSpPr>
          <p:cNvPr id="16" name="Shape 14"/>
          <p:cNvSpPr/>
          <p:nvPr/>
        </p:nvSpPr>
        <p:spPr>
          <a:xfrm>
            <a:off x="457200" y="3749040"/>
            <a:ext cx="8229600" cy="1005840"/>
          </a:xfrm>
          <a:prstGeom prst="rect">
            <a:avLst/>
          </a:prstGeom>
          <a:solidFill>
            <a:srgbClr val="1E3D1A"/>
          </a:solidFill>
          <a:ln w="12700">
            <a:solidFill>
              <a:srgbClr val="2C5F2D"/>
            </a:solidFill>
            <a:prstDash val="solid"/>
          </a:ln>
        </p:spPr>
      </p:sp>
      <p:sp>
        <p:nvSpPr>
          <p:cNvPr id="17" name="Shape 15"/>
          <p:cNvSpPr/>
          <p:nvPr/>
        </p:nvSpPr>
        <p:spPr>
          <a:xfrm>
            <a:off x="457200" y="3749040"/>
            <a:ext cx="1188720" cy="1005840"/>
          </a:xfrm>
          <a:prstGeom prst="rect">
            <a:avLst/>
          </a:prstGeom>
          <a:solidFill>
            <a:srgbClr val="6AAB3A"/>
          </a:solidFill>
          <a:ln w="12700">
            <a:solidFill>
              <a:srgbClr val="6AAB3A"/>
            </a:solidFill>
            <a:prstDash val="solid"/>
          </a:ln>
        </p:spPr>
      </p:sp>
      <p:sp>
        <p:nvSpPr>
          <p:cNvPr id="18" name="Text 16"/>
          <p:cNvSpPr/>
          <p:nvPr/>
        </p:nvSpPr>
        <p:spPr>
          <a:xfrm>
            <a:off x="457200" y="3749040"/>
            <a:ext cx="1188720" cy="1005840"/>
          </a:xfrm>
          <a:prstGeom prst="rect">
            <a:avLst/>
          </a:prstGeom>
          <a:noFill/>
          <a:ln/>
        </p:spPr>
        <p:txBody>
          <a:bodyPr wrap="square" rtlCol="0" anchor="ctr"/>
          <a:lstStyle/>
          <a:p>
            <a:pPr marL="0" indent="0" algn="ctr">
              <a:buNone/>
            </a:pPr>
            <a:r>
              <a:rPr lang="en-US" sz="1000" b="1" dirty="0">
                <a:solidFill>
                  <a:srgbClr val="1A2E1A"/>
                </a:solidFill>
                <a:latin typeface="Trebuchet MS" pitchFamily="34" charset="0"/>
                <a:ea typeface="Trebuchet MS" pitchFamily="34" charset="-122"/>
                <a:cs typeface="Trebuchet MS" pitchFamily="34" charset="-120"/>
              </a:rPr>
              <a:t>TEST SCRIPT</a:t>
            </a:r>
            <a:endParaRPr lang="en-US" sz="1000" dirty="0"/>
          </a:p>
        </p:txBody>
      </p:sp>
      <p:sp>
        <p:nvSpPr>
          <p:cNvPr id="19" name="Text 17"/>
          <p:cNvSpPr/>
          <p:nvPr/>
        </p:nvSpPr>
        <p:spPr>
          <a:xfrm>
            <a:off x="1783080" y="3822192"/>
            <a:ext cx="6720840" cy="347472"/>
          </a:xfrm>
          <a:prstGeom prst="rect">
            <a:avLst/>
          </a:prstGeom>
          <a:noFill/>
          <a:ln/>
        </p:spPr>
        <p:txBody>
          <a:bodyPr wrap="square" rtlCol="0" anchor="ctr"/>
          <a:lstStyle/>
          <a:p>
            <a:pPr marL="0" indent="0">
              <a:buNone/>
            </a:pPr>
            <a:r>
              <a:rPr lang="en-US" sz="1400" b="1" dirty="0">
                <a:solidFill>
                  <a:srgbClr val="6AAB3A"/>
                </a:solidFill>
                <a:latin typeface="Consolas" pitchFamily="34" charset="0"/>
                <a:ea typeface="Consolas" pitchFamily="34" charset="-122"/>
                <a:cs typeface="Consolas" pitchFamily="34" charset="-120"/>
              </a:rPr>
              <a:t>test_queries.sql</a:t>
            </a:r>
            <a:endParaRPr lang="en-US" sz="1400" dirty="0"/>
          </a:p>
        </p:txBody>
      </p:sp>
      <p:sp>
        <p:nvSpPr>
          <p:cNvPr id="20" name="Text 18"/>
          <p:cNvSpPr/>
          <p:nvPr/>
        </p:nvSpPr>
        <p:spPr>
          <a:xfrm>
            <a:off x="1783080" y="4187952"/>
            <a:ext cx="6720840" cy="502920"/>
          </a:xfrm>
          <a:prstGeom prst="rect">
            <a:avLst/>
          </a:prstGeom>
          <a:noFill/>
          <a:ln/>
        </p:spPr>
        <p:txBody>
          <a:bodyPr wrap="square" rtlCol="0" anchor="ctr"/>
          <a:lstStyle/>
          <a:p>
            <a:pPr marL="0" indent="0">
              <a:buNone/>
            </a:pPr>
            <a:r>
              <a:rPr lang="en-US" sz="1150" dirty="0">
                <a:solidFill>
                  <a:srgbClr val="C8DEB8"/>
                </a:solidFill>
                <a:latin typeface="Calibri" pitchFamily="34" charset="0"/>
                <a:ea typeface="Calibri" pitchFamily="34" charset="-122"/>
                <a:cs typeface="Calibri" pitchFamily="34" charset="-120"/>
              </a:rPr>
              <a:t>Validates all business rules: PERSON cascade, LOCATION FK integrity, constraint violations, trigger execution, and procedure output against expected results.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A2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6AAB3A"/>
          </a:solidFill>
          <a:ln w="12700">
            <a:solidFill>
              <a:srgbClr val="6AAB3A"/>
            </a:solidFill>
            <a:prstDash val="solid"/>
          </a:ln>
        </p:spPr>
      </p:sp>
      <p:sp>
        <p:nvSpPr>
          <p:cNvPr id="3" name="Text 1"/>
          <p:cNvSpPr/>
          <p:nvPr/>
        </p:nvSpPr>
        <p:spPr>
          <a:xfrm>
            <a:off x="457200" y="274320"/>
            <a:ext cx="8229600" cy="640080"/>
          </a:xfrm>
          <a:prstGeom prst="rect">
            <a:avLst/>
          </a:prstGeom>
          <a:noFill/>
          <a:ln/>
        </p:spPr>
        <p:txBody>
          <a:bodyPr wrap="square"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Conclusion</a:t>
            </a:r>
            <a:endParaRPr lang="en-US" sz="3200" dirty="0"/>
          </a:p>
        </p:txBody>
      </p:sp>
      <p:sp>
        <p:nvSpPr>
          <p:cNvPr id="4" name="Shape 2"/>
          <p:cNvSpPr/>
          <p:nvPr/>
        </p:nvSpPr>
        <p:spPr>
          <a:xfrm>
            <a:off x="457200" y="960120"/>
            <a:ext cx="8229600" cy="0"/>
          </a:xfrm>
          <a:prstGeom prst="line">
            <a:avLst/>
          </a:prstGeom>
          <a:noFill/>
          <a:ln w="12700">
            <a:solidFill>
              <a:srgbClr val="8FAF72"/>
            </a:solidFill>
            <a:prstDash val="solid"/>
          </a:ln>
        </p:spPr>
      </p:sp>
      <p:sp>
        <p:nvSpPr>
          <p:cNvPr id="5" name="Shape 3"/>
          <p:cNvSpPr/>
          <p:nvPr/>
        </p:nvSpPr>
        <p:spPr>
          <a:xfrm>
            <a:off x="457200" y="1143000"/>
            <a:ext cx="365760" cy="365760"/>
          </a:xfrm>
          <a:prstGeom prst="ellipse">
            <a:avLst/>
          </a:prstGeom>
          <a:solidFill>
            <a:srgbClr val="6AAB3A"/>
          </a:solidFill>
          <a:ln w="12700">
            <a:solidFill>
              <a:srgbClr val="6AAB3A"/>
            </a:solidFill>
            <a:prstDash val="solid"/>
          </a:ln>
        </p:spPr>
      </p:sp>
      <p:sp>
        <p:nvSpPr>
          <p:cNvPr id="6" name="Text 4"/>
          <p:cNvSpPr/>
          <p:nvPr/>
        </p:nvSpPr>
        <p:spPr>
          <a:xfrm>
            <a:off x="457200" y="1143000"/>
            <a:ext cx="365760" cy="365760"/>
          </a:xfrm>
          <a:prstGeom prst="rect">
            <a:avLst/>
          </a:prstGeom>
          <a:noFill/>
          <a:ln/>
        </p:spPr>
        <p:txBody>
          <a:bodyPr wrap="square" rtlCol="0" anchor="ctr"/>
          <a:lstStyle/>
          <a:p>
            <a:pPr marL="0" indent="0" algn="ctr">
              <a:buNone/>
            </a:pPr>
            <a:r>
              <a:rPr lang="en-US" sz="1200" b="1" dirty="0">
                <a:solidFill>
                  <a:srgbClr val="1A2E1A"/>
                </a:solidFill>
                <a:latin typeface="Trebuchet MS" pitchFamily="34" charset="0"/>
                <a:ea typeface="Trebuchet MS" pitchFamily="34" charset="-122"/>
                <a:cs typeface="Trebuchet MS" pitchFamily="34" charset="-120"/>
              </a:rPr>
              <a:t>1</a:t>
            </a:r>
            <a:endParaRPr lang="en-US" sz="1200" dirty="0"/>
          </a:p>
        </p:txBody>
      </p:sp>
      <p:sp>
        <p:nvSpPr>
          <p:cNvPr id="7" name="Text 5"/>
          <p:cNvSpPr/>
          <p:nvPr/>
        </p:nvSpPr>
        <p:spPr>
          <a:xfrm>
            <a:off x="960120" y="1097280"/>
            <a:ext cx="7680960" cy="640080"/>
          </a:xfrm>
          <a:prstGeom prst="rect">
            <a:avLst/>
          </a:prstGeom>
          <a:noFill/>
          <a:ln/>
        </p:spPr>
        <p:txBody>
          <a:bodyPr wrap="square" rtlCol="0" anchor="ctr"/>
          <a:lstStyle/>
          <a:p>
            <a:pPr marL="0" indent="0">
              <a:buNone/>
            </a:pPr>
            <a:r>
              <a:rPr lang="en-US" sz="1300" b="1" dirty="0">
                <a:solidFill>
                  <a:srgbClr val="6AAB3A"/>
                </a:solidFill>
                <a:latin typeface="Calibri" pitchFamily="34" charset="0"/>
                <a:ea typeface="Calibri" pitchFamily="34" charset="-122"/>
                <a:cs typeface="Calibri" pitchFamily="34" charset="-120"/>
              </a:rPr>
              <a:t>Scalable Architecture  </a:t>
            </a:r>
            <a:r>
              <a:rPr lang="en-US" sz="1300" dirty="0">
                <a:solidFill>
                  <a:srgbClr val="C8DEB8"/>
                </a:solidFill>
                <a:latin typeface="Calibri" pitchFamily="34" charset="0"/>
                <a:ea typeface="Calibri" pitchFamily="34" charset="-122"/>
                <a:cs typeface="Calibri" pitchFamily="34" charset="-120"/>
              </a:rPr>
              <a:t>Normalized 3NF design supports nationwide rollout with minimal schema changes.</a:t>
            </a:r>
            <a:endParaRPr lang="en-US" sz="1300" dirty="0"/>
          </a:p>
        </p:txBody>
      </p:sp>
      <p:sp>
        <p:nvSpPr>
          <p:cNvPr id="8" name="Shape 6"/>
          <p:cNvSpPr/>
          <p:nvPr/>
        </p:nvSpPr>
        <p:spPr>
          <a:xfrm>
            <a:off x="457200" y="1892808"/>
            <a:ext cx="365760" cy="365760"/>
          </a:xfrm>
          <a:prstGeom prst="ellipse">
            <a:avLst/>
          </a:prstGeom>
          <a:solidFill>
            <a:srgbClr val="6AAB3A"/>
          </a:solidFill>
          <a:ln w="12700">
            <a:solidFill>
              <a:srgbClr val="6AAB3A"/>
            </a:solidFill>
            <a:prstDash val="solid"/>
          </a:ln>
        </p:spPr>
      </p:sp>
      <p:sp>
        <p:nvSpPr>
          <p:cNvPr id="9" name="Text 7"/>
          <p:cNvSpPr/>
          <p:nvPr/>
        </p:nvSpPr>
        <p:spPr>
          <a:xfrm>
            <a:off x="457200" y="1892808"/>
            <a:ext cx="365760" cy="365760"/>
          </a:xfrm>
          <a:prstGeom prst="rect">
            <a:avLst/>
          </a:prstGeom>
          <a:noFill/>
          <a:ln/>
        </p:spPr>
        <p:txBody>
          <a:bodyPr wrap="square" rtlCol="0" anchor="ctr"/>
          <a:lstStyle/>
          <a:p>
            <a:pPr marL="0" indent="0" algn="ctr">
              <a:buNone/>
            </a:pPr>
            <a:r>
              <a:rPr lang="en-US" sz="1200" b="1" dirty="0">
                <a:solidFill>
                  <a:srgbClr val="1A2E1A"/>
                </a:solidFill>
                <a:latin typeface="Trebuchet MS" pitchFamily="34" charset="0"/>
                <a:ea typeface="Trebuchet MS" pitchFamily="34" charset="-122"/>
                <a:cs typeface="Trebuchet MS" pitchFamily="34" charset="-120"/>
              </a:rPr>
              <a:t>2</a:t>
            </a:r>
            <a:endParaRPr lang="en-US" sz="1200" dirty="0"/>
          </a:p>
        </p:txBody>
      </p:sp>
      <p:sp>
        <p:nvSpPr>
          <p:cNvPr id="10" name="Text 8"/>
          <p:cNvSpPr/>
          <p:nvPr/>
        </p:nvSpPr>
        <p:spPr>
          <a:xfrm>
            <a:off x="960120" y="1847088"/>
            <a:ext cx="7680960" cy="640080"/>
          </a:xfrm>
          <a:prstGeom prst="rect">
            <a:avLst/>
          </a:prstGeom>
          <a:noFill/>
          <a:ln/>
        </p:spPr>
        <p:txBody>
          <a:bodyPr wrap="square" rtlCol="0" anchor="ctr"/>
          <a:lstStyle/>
          <a:p>
            <a:pPr marL="0" indent="0">
              <a:buNone/>
            </a:pPr>
            <a:r>
              <a:rPr lang="en-US" sz="1300" b="1" dirty="0">
                <a:solidFill>
                  <a:srgbClr val="6AAB3A"/>
                </a:solidFill>
                <a:latin typeface="Calibri" pitchFamily="34" charset="0"/>
                <a:ea typeface="Calibri" pitchFamily="34" charset="-122"/>
                <a:cs typeface="Calibri" pitchFamily="34" charset="-120"/>
              </a:rPr>
              <a:t>Robust Security  </a:t>
            </a:r>
            <a:r>
              <a:rPr lang="en-US" sz="1300" dirty="0">
                <a:solidFill>
                  <a:srgbClr val="C8DEB8"/>
                </a:solidFill>
                <a:latin typeface="Calibri" pitchFamily="34" charset="0"/>
                <a:ea typeface="Calibri" pitchFamily="34" charset="-122"/>
                <a:cs typeface="Calibri" pitchFamily="34" charset="-120"/>
              </a:rPr>
              <a:t>RBAC with three distinct roles limits data exposure and prevents unauthorized modifications.</a:t>
            </a:r>
            <a:endParaRPr lang="en-US" sz="1300" dirty="0"/>
          </a:p>
        </p:txBody>
      </p:sp>
      <p:sp>
        <p:nvSpPr>
          <p:cNvPr id="11" name="Shape 9"/>
          <p:cNvSpPr/>
          <p:nvPr/>
        </p:nvSpPr>
        <p:spPr>
          <a:xfrm>
            <a:off x="457200" y="2642616"/>
            <a:ext cx="365760" cy="365760"/>
          </a:xfrm>
          <a:prstGeom prst="ellipse">
            <a:avLst/>
          </a:prstGeom>
          <a:solidFill>
            <a:srgbClr val="6AAB3A"/>
          </a:solidFill>
          <a:ln w="12700">
            <a:solidFill>
              <a:srgbClr val="6AAB3A"/>
            </a:solidFill>
            <a:prstDash val="solid"/>
          </a:ln>
        </p:spPr>
      </p:sp>
      <p:sp>
        <p:nvSpPr>
          <p:cNvPr id="12" name="Text 10"/>
          <p:cNvSpPr/>
          <p:nvPr/>
        </p:nvSpPr>
        <p:spPr>
          <a:xfrm>
            <a:off x="457200" y="2642616"/>
            <a:ext cx="365760" cy="365760"/>
          </a:xfrm>
          <a:prstGeom prst="rect">
            <a:avLst/>
          </a:prstGeom>
          <a:noFill/>
          <a:ln/>
        </p:spPr>
        <p:txBody>
          <a:bodyPr wrap="square" rtlCol="0" anchor="ctr"/>
          <a:lstStyle/>
          <a:p>
            <a:pPr marL="0" indent="0" algn="ctr">
              <a:buNone/>
            </a:pPr>
            <a:r>
              <a:rPr lang="en-US" sz="1200" b="1" dirty="0">
                <a:solidFill>
                  <a:srgbClr val="1A2E1A"/>
                </a:solidFill>
                <a:latin typeface="Trebuchet MS" pitchFamily="34" charset="0"/>
                <a:ea typeface="Trebuchet MS" pitchFamily="34" charset="-122"/>
                <a:cs typeface="Trebuchet MS" pitchFamily="34" charset="-120"/>
              </a:rPr>
              <a:t>3</a:t>
            </a:r>
            <a:endParaRPr lang="en-US" sz="1200" dirty="0"/>
          </a:p>
        </p:txBody>
      </p:sp>
      <p:sp>
        <p:nvSpPr>
          <p:cNvPr id="13" name="Text 11"/>
          <p:cNvSpPr/>
          <p:nvPr/>
        </p:nvSpPr>
        <p:spPr>
          <a:xfrm>
            <a:off x="960120" y="2596896"/>
            <a:ext cx="7680960" cy="640080"/>
          </a:xfrm>
          <a:prstGeom prst="rect">
            <a:avLst/>
          </a:prstGeom>
          <a:noFill/>
          <a:ln/>
        </p:spPr>
        <p:txBody>
          <a:bodyPr wrap="square" rtlCol="0" anchor="ctr"/>
          <a:lstStyle/>
          <a:p>
            <a:pPr marL="0" indent="0">
              <a:buNone/>
            </a:pPr>
            <a:r>
              <a:rPr lang="en-US" sz="1300" b="1" dirty="0">
                <a:solidFill>
                  <a:srgbClr val="6AAB3A"/>
                </a:solidFill>
                <a:latin typeface="Calibri" pitchFamily="34" charset="0"/>
                <a:ea typeface="Calibri" pitchFamily="34" charset="-122"/>
                <a:cs typeface="Calibri" pitchFamily="34" charset="-120"/>
              </a:rPr>
              <a:t>Automated Inventory  </a:t>
            </a:r>
            <a:r>
              <a:rPr lang="en-US" sz="1300" dirty="0">
                <a:solidFill>
                  <a:srgbClr val="C8DEB8"/>
                </a:solidFill>
                <a:latin typeface="Calibri" pitchFamily="34" charset="0"/>
                <a:ea typeface="Calibri" pitchFamily="34" charset="-122"/>
                <a:cs typeface="Calibri" pitchFamily="34" charset="-120"/>
              </a:rPr>
              <a:t>Trigger-driven stock management eliminates manual updates and reduces waste.</a:t>
            </a:r>
            <a:endParaRPr lang="en-US" sz="1300" dirty="0"/>
          </a:p>
        </p:txBody>
      </p:sp>
      <p:sp>
        <p:nvSpPr>
          <p:cNvPr id="14" name="Shape 12"/>
          <p:cNvSpPr/>
          <p:nvPr/>
        </p:nvSpPr>
        <p:spPr>
          <a:xfrm>
            <a:off x="457200" y="3392424"/>
            <a:ext cx="365760" cy="365760"/>
          </a:xfrm>
          <a:prstGeom prst="ellipse">
            <a:avLst/>
          </a:prstGeom>
          <a:solidFill>
            <a:srgbClr val="6AAB3A"/>
          </a:solidFill>
          <a:ln w="12700">
            <a:solidFill>
              <a:srgbClr val="6AAB3A"/>
            </a:solidFill>
            <a:prstDash val="solid"/>
          </a:ln>
        </p:spPr>
      </p:sp>
      <p:sp>
        <p:nvSpPr>
          <p:cNvPr id="15" name="Text 13"/>
          <p:cNvSpPr/>
          <p:nvPr/>
        </p:nvSpPr>
        <p:spPr>
          <a:xfrm>
            <a:off x="457200" y="3392424"/>
            <a:ext cx="365760" cy="365760"/>
          </a:xfrm>
          <a:prstGeom prst="rect">
            <a:avLst/>
          </a:prstGeom>
          <a:noFill/>
          <a:ln/>
        </p:spPr>
        <p:txBody>
          <a:bodyPr wrap="square" rtlCol="0" anchor="ctr"/>
          <a:lstStyle/>
          <a:p>
            <a:pPr marL="0" indent="0" algn="ctr">
              <a:buNone/>
            </a:pPr>
            <a:r>
              <a:rPr lang="en-US" sz="1200" b="1" dirty="0">
                <a:solidFill>
                  <a:srgbClr val="1A2E1A"/>
                </a:solidFill>
                <a:latin typeface="Trebuchet MS" pitchFamily="34" charset="0"/>
                <a:ea typeface="Trebuchet MS" pitchFamily="34" charset="-122"/>
                <a:cs typeface="Trebuchet MS" pitchFamily="34" charset="-120"/>
              </a:rPr>
              <a:t>4</a:t>
            </a:r>
            <a:endParaRPr lang="en-US" sz="1200" dirty="0"/>
          </a:p>
        </p:txBody>
      </p:sp>
      <p:sp>
        <p:nvSpPr>
          <p:cNvPr id="16" name="Text 14"/>
          <p:cNvSpPr/>
          <p:nvPr/>
        </p:nvSpPr>
        <p:spPr>
          <a:xfrm>
            <a:off x="960120" y="3346704"/>
            <a:ext cx="7680960" cy="640080"/>
          </a:xfrm>
          <a:prstGeom prst="rect">
            <a:avLst/>
          </a:prstGeom>
          <a:noFill/>
          <a:ln/>
        </p:spPr>
        <p:txBody>
          <a:bodyPr wrap="square" rtlCol="0" anchor="ctr"/>
          <a:lstStyle/>
          <a:p>
            <a:pPr marL="0" indent="0">
              <a:buNone/>
            </a:pPr>
            <a:r>
              <a:rPr lang="en-US" sz="1300" b="1" dirty="0">
                <a:solidFill>
                  <a:srgbClr val="6AAB3A"/>
                </a:solidFill>
                <a:latin typeface="Calibri" pitchFamily="34" charset="0"/>
                <a:ea typeface="Calibri" pitchFamily="34" charset="-122"/>
                <a:cs typeface="Calibri" pitchFamily="34" charset="-120"/>
              </a:rPr>
              <a:t>Data Integrity  </a:t>
            </a:r>
            <a:r>
              <a:rPr lang="en-US" sz="1300" dirty="0">
                <a:solidFill>
                  <a:srgbClr val="C8DEB8"/>
                </a:solidFill>
                <a:latin typeface="Calibri" pitchFamily="34" charset="0"/>
                <a:ea typeface="Calibri" pitchFamily="34" charset="-122"/>
                <a:cs typeface="Calibri" pitchFamily="34" charset="-120"/>
              </a:rPr>
              <a:t>Primary/Foreign keys, CHECK constraints, and CASCADE rules guarantee consistent records.</a:t>
            </a:r>
            <a:endParaRPr lang="en-US" sz="1300" dirty="0"/>
          </a:p>
        </p:txBody>
      </p:sp>
      <p:sp>
        <p:nvSpPr>
          <p:cNvPr id="17" name="Shape 15"/>
          <p:cNvSpPr/>
          <p:nvPr/>
        </p:nvSpPr>
        <p:spPr>
          <a:xfrm>
            <a:off x="457200" y="4142232"/>
            <a:ext cx="365760" cy="365760"/>
          </a:xfrm>
          <a:prstGeom prst="ellipse">
            <a:avLst/>
          </a:prstGeom>
          <a:solidFill>
            <a:srgbClr val="6AAB3A"/>
          </a:solidFill>
          <a:ln w="12700">
            <a:solidFill>
              <a:srgbClr val="6AAB3A"/>
            </a:solidFill>
            <a:prstDash val="solid"/>
          </a:ln>
        </p:spPr>
      </p:sp>
      <p:sp>
        <p:nvSpPr>
          <p:cNvPr id="18" name="Text 16"/>
          <p:cNvSpPr/>
          <p:nvPr/>
        </p:nvSpPr>
        <p:spPr>
          <a:xfrm>
            <a:off x="457200" y="4142232"/>
            <a:ext cx="365760" cy="365760"/>
          </a:xfrm>
          <a:prstGeom prst="rect">
            <a:avLst/>
          </a:prstGeom>
          <a:noFill/>
          <a:ln/>
        </p:spPr>
        <p:txBody>
          <a:bodyPr wrap="square" rtlCol="0" anchor="ctr"/>
          <a:lstStyle/>
          <a:p>
            <a:pPr marL="0" indent="0" algn="ctr">
              <a:buNone/>
            </a:pPr>
            <a:r>
              <a:rPr lang="en-US" sz="1200" b="1" dirty="0">
                <a:solidFill>
                  <a:srgbClr val="1A2E1A"/>
                </a:solidFill>
                <a:latin typeface="Trebuchet MS" pitchFamily="34" charset="0"/>
                <a:ea typeface="Trebuchet MS" pitchFamily="34" charset="-122"/>
                <a:cs typeface="Trebuchet MS" pitchFamily="34" charset="-120"/>
              </a:rPr>
              <a:t>5</a:t>
            </a:r>
            <a:endParaRPr lang="en-US" sz="1200" dirty="0"/>
          </a:p>
        </p:txBody>
      </p:sp>
      <p:sp>
        <p:nvSpPr>
          <p:cNvPr id="19" name="Text 17"/>
          <p:cNvSpPr/>
          <p:nvPr/>
        </p:nvSpPr>
        <p:spPr>
          <a:xfrm>
            <a:off x="960120" y="4096512"/>
            <a:ext cx="7680960" cy="640080"/>
          </a:xfrm>
          <a:prstGeom prst="rect">
            <a:avLst/>
          </a:prstGeom>
          <a:noFill/>
          <a:ln/>
        </p:spPr>
        <p:txBody>
          <a:bodyPr wrap="square" rtlCol="0" anchor="ctr"/>
          <a:lstStyle/>
          <a:p>
            <a:pPr marL="0" indent="0">
              <a:buNone/>
            </a:pPr>
            <a:r>
              <a:rPr lang="en-US" sz="1300" b="1" dirty="0">
                <a:solidFill>
                  <a:srgbClr val="6AAB3A"/>
                </a:solidFill>
                <a:latin typeface="Calibri" pitchFamily="34" charset="0"/>
                <a:ea typeface="Calibri" pitchFamily="34" charset="-122"/>
                <a:cs typeface="Calibri" pitchFamily="34" charset="-120"/>
              </a:rPr>
              <a:t>Operational Efficiency  </a:t>
            </a:r>
            <a:r>
              <a:rPr lang="en-US" sz="1300" dirty="0">
                <a:solidFill>
                  <a:srgbClr val="C8DEB8"/>
                </a:solidFill>
                <a:latin typeface="Calibri" pitchFamily="34" charset="0"/>
                <a:ea typeface="Calibri" pitchFamily="34" charset="-122"/>
                <a:cs typeface="Calibri" pitchFamily="34" charset="-120"/>
              </a:rPr>
              <a:t>Views and stored procedures simplify day-to-day tasks for non-technical Ministry staff.</a:t>
            </a:r>
            <a:endParaRPr lang="en-US" sz="1300" dirty="0"/>
          </a:p>
        </p:txBody>
      </p:sp>
      <p:sp>
        <p:nvSpPr>
          <p:cNvPr id="20" name="Shape 18"/>
          <p:cNvSpPr/>
          <p:nvPr/>
        </p:nvSpPr>
        <p:spPr>
          <a:xfrm>
            <a:off x="0" y="4800600"/>
            <a:ext cx="9144000" cy="342900"/>
          </a:xfrm>
          <a:prstGeom prst="rect">
            <a:avLst/>
          </a:prstGeom>
          <a:solidFill>
            <a:srgbClr val="2C5F2D"/>
          </a:solidFill>
          <a:ln w="12700">
            <a:solidFill>
              <a:srgbClr val="2C5F2D"/>
            </a:solidFill>
            <a:prstDash val="solid"/>
          </a:ln>
        </p:spPr>
      </p:sp>
      <p:sp>
        <p:nvSpPr>
          <p:cNvPr id="21" name="Text 19"/>
          <p:cNvSpPr/>
          <p:nvPr/>
        </p:nvSpPr>
        <p:spPr>
          <a:xfrm>
            <a:off x="0" y="4800600"/>
            <a:ext cx="9144000" cy="342900"/>
          </a:xfrm>
          <a:prstGeom prst="rect">
            <a:avLst/>
          </a:prstGeom>
          <a:noFill/>
          <a:ln/>
        </p:spPr>
        <p:txBody>
          <a:bodyPr wrap="square" rtlCol="0" anchor="ctr"/>
          <a:lstStyle/>
          <a:p>
            <a:pPr marL="0" indent="0" algn="ctr">
              <a:buNone/>
            </a:pPr>
            <a:r>
              <a:rPr lang="en-US" sz="1200" dirty="0">
                <a:solidFill>
                  <a:srgbClr val="FFFFFF"/>
                </a:solidFill>
                <a:latin typeface="Trebuchet MS" pitchFamily="34" charset="0"/>
                <a:ea typeface="Trebuchet MS" pitchFamily="34" charset="-122"/>
                <a:cs typeface="Trebuchet MS" pitchFamily="34" charset="-120"/>
              </a:rPr>
              <a:t>Thank You </a:t>
            </a:r>
            <a:r>
              <a:rPr lang="en-US" sz="1200" dirty="0" smtClean="0">
                <a:solidFill>
                  <a:srgbClr val="FFFFFF"/>
                </a:solidFill>
                <a:latin typeface="Trebuchet MS" pitchFamily="34" charset="0"/>
                <a:ea typeface="Trebuchet MS" pitchFamily="34" charset="-122"/>
                <a:cs typeface="Trebuchet MS" pitchFamily="34" charset="-120"/>
              </a:rPr>
              <a:t>.</a:t>
            </a:r>
            <a:endParaRPr lang="en-US" sz="1200" dirty="0"/>
          </a:p>
        </p:txBody>
      </p:sp>
      <p:sp>
        <p:nvSpPr>
          <p:cNvPr id="22" name="Text 20"/>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8FAF72"/>
                </a:solidFill>
                <a:latin typeface="Calibri" pitchFamily="34" charset="0"/>
                <a:ea typeface="Calibri" pitchFamily="34" charset="-122"/>
                <a:cs typeface="Calibri"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908</Words>
  <Application>Microsoft Office PowerPoint</Application>
  <PresentationFormat>On-screen Show (16:9)</PresentationFormat>
  <Paragraphs>151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Coffee Production Database System</dc:title>
  <dc:subject>PptxGenJS Presentation</dc:subject>
  <dc:creator>Group 5</dc:creator>
  <cp:lastModifiedBy>hp</cp:lastModifiedBy>
  <cp:revision>4</cp:revision>
  <dcterms:created xsi:type="dcterms:W3CDTF">2026-04-12T20:55:31Z</dcterms:created>
  <dcterms:modified xsi:type="dcterms:W3CDTF">2026-04-12T21:45:35Z</dcterms:modified>
</cp:coreProperties>
</file>